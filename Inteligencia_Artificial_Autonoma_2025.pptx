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Inteligencia Artificial Autónoma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 Futuro de la Automatización Inteligente</a:t>
            </a:r>
          </a:p>
          <a:p>
            <a:r>
              <a:t>Actualizado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y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Fundamentos: Autonomía vs Automatización</a:t>
            </a:r>
          </a:p>
          <a:p>
            <a:pPr>
              <a:defRPr sz="1800"/>
            </a:pPr>
            <a:r>
              <a:t>Evolución de RPA a Agentic AI</a:t>
            </a:r>
          </a:p>
          <a:p>
            <a:pPr>
              <a:defRPr sz="1800"/>
            </a:pPr>
            <a:r>
              <a:t>Revolución de los LLMs y Técnicas Avanzadas</a:t>
            </a:r>
          </a:p>
          <a:p>
            <a:pPr>
              <a:defRPr sz="1800"/>
            </a:pPr>
            <a:r>
              <a:t>Agentes y Sistemas Multi-Agente</a:t>
            </a:r>
          </a:p>
          <a:p>
            <a:pPr>
              <a:defRPr sz="1800"/>
            </a:pPr>
            <a:r>
              <a:t>Multimodalidad y Modelos Omni-Modal</a:t>
            </a:r>
          </a:p>
          <a:p>
            <a:pPr>
              <a:defRPr sz="1800"/>
            </a:pPr>
            <a:r>
              <a:t>Automatización de la Ciencia y Auto-Mejora</a:t>
            </a:r>
          </a:p>
          <a:p>
            <a:pPr>
              <a:defRPr sz="1800"/>
            </a:pPr>
            <a:r>
              <a:t>Robótica Autónoma y Humanoides</a:t>
            </a:r>
          </a:p>
          <a:p>
            <a:pPr>
              <a:defRPr sz="1800"/>
            </a:pPr>
            <a:r>
              <a:t>Visión del Futuro: AGI y Superinteligencia</a:t>
            </a:r>
          </a:p>
          <a:p>
            <a:pPr>
              <a:defRPr sz="1800"/>
            </a:pPr>
            <a:r>
              <a:t>Guía Práctica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Autonomía vs Automatización: Definiciones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Automatización: Ejecución de tareas predefinidas sin intervención humana</a:t>
            </a:r>
          </a:p>
          <a:p>
            <a:pPr lvl="1">
              <a:defRPr sz="1600"/>
            </a:pPr>
            <a:r>
              <a:t>Procesos rígidos basados en reglas</a:t>
            </a:r>
          </a:p>
          <a:p>
            <a:pPr lvl="1">
              <a:defRPr sz="1600"/>
            </a:pPr>
            <a:r>
              <a:t>Requiere programación explícita</a:t>
            </a:r>
          </a:p>
          <a:p>
            <a:pPr lvl="1">
              <a:defRPr sz="1600"/>
            </a:pPr>
            <a:r>
              <a:t>Ejemplos: RPA, scripts, macros</a:t>
            </a:r>
          </a:p>
          <a:p>
            <a:pPr>
              <a:defRPr sz="1800"/>
            </a:pPr>
            <a:r>
              <a:t>Autonomía: Capacidad de tomar decisiones independientes</a:t>
            </a:r>
          </a:p>
          <a:p>
            <a:pPr lvl="1">
              <a:defRPr sz="1600"/>
            </a:pPr>
            <a:r>
              <a:t>Adaptación a entornos cambiantes</a:t>
            </a:r>
          </a:p>
          <a:p>
            <a:pPr lvl="1">
              <a:defRPr sz="1600"/>
            </a:pPr>
            <a:r>
              <a:t>Aprendizaje y razonamiento</a:t>
            </a:r>
          </a:p>
          <a:p>
            <a:pPr lvl="1">
              <a:defRPr sz="1600"/>
            </a:pPr>
            <a:r>
              <a:t>Operación sin supervisión continua</a:t>
            </a:r>
          </a:p>
          <a:p>
            <a:pPr>
              <a:defRPr sz="1800"/>
            </a:pPr>
            <a:r>
              <a:t>Diferencia clave 2025: Agentic AI puede razonar, planificar y actuar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Niveles de Automatización (SAE J3016)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Nivel 0: Sin Automatización - Control humano total</a:t>
            </a:r>
          </a:p>
          <a:p>
            <a:pPr>
              <a:defRPr sz="1800"/>
            </a:pPr>
            <a:r>
              <a:t>Nivel 1: Asistencia - Ayuda en tareas específicas</a:t>
            </a:r>
          </a:p>
          <a:p>
            <a:pPr>
              <a:defRPr sz="1800"/>
            </a:pPr>
            <a:r>
              <a:t>Nivel 2: Automatización Parcial - Múltiples funciones simultáneas</a:t>
            </a:r>
          </a:p>
          <a:p>
            <a:pPr>
              <a:defRPr sz="1800"/>
            </a:pPr>
            <a:r>
              <a:t>Nivel 3: Automatización Condicional - Sistema toma control en escenarios</a:t>
            </a:r>
          </a:p>
          <a:p>
            <a:pPr>
              <a:defRPr sz="1800"/>
            </a:pPr>
            <a:r>
              <a:t>Nivel 4: Alta Automatización - Totalmente autónomo en condiciones definidas</a:t>
            </a:r>
          </a:p>
          <a:p>
            <a:pPr>
              <a:defRPr sz="1800"/>
            </a:pPr>
            <a:r>
              <a:t>Nivel 5: Automatización Completa - Autonomía total en cualquier contexto</a:t>
            </a:r>
          </a:p>
          <a:p>
            <a:pPr>
              <a:defRPr sz="1800"/>
            </a:pPr>
            <a:r>
              <a:t>Aplicable a vehículos, robots y sistemas de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Niveles de Autonomía en Sistemas IA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L0 - Herramientas: Responde a comandos directos (calculadoras, búsqueda)</a:t>
            </a:r>
          </a:p>
          <a:p>
            <a:pPr>
              <a:defRPr sz="1800"/>
            </a:pPr>
            <a:r>
              <a:t>L1 - Asistentes: Sugiere acciones (autocomplete, recomendaciones)</a:t>
            </a:r>
          </a:p>
          <a:p>
            <a:pPr>
              <a:defRPr sz="1800"/>
            </a:pPr>
            <a:r>
              <a:t>L2 - Copilotos: Colabora activamente (GitHub Copilot, ChatGPT)</a:t>
            </a:r>
          </a:p>
          <a:p>
            <a:pPr>
              <a:defRPr sz="1800"/>
            </a:pPr>
            <a:r>
              <a:t>L3 - Agentes Simples: Ejecuta tareas completas supervisadas</a:t>
            </a:r>
          </a:p>
          <a:p>
            <a:pPr>
              <a:defRPr sz="1800"/>
            </a:pPr>
            <a:r>
              <a:t>L4 - Agentes Autónomos: Opera independientemente por períodos largos</a:t>
            </a:r>
          </a:p>
          <a:p>
            <a:pPr>
              <a:defRPr sz="1800"/>
            </a:pPr>
            <a:r>
              <a:t>L5 - IA General (AGI): Razonamiento y aprendizaje en cualquier dominio</a:t>
            </a:r>
          </a:p>
          <a:p>
            <a:pPr>
              <a:defRPr sz="1800"/>
            </a:pPr>
            <a:r>
              <a:t>2025: La mayoría de sistemas están en L2-L3, avanzando hacia L4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RPA y Automatización Tradicional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 Process Automation (RPA): 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Automatización de procesos basados en reglas predefinidas</a:t>
            </a:r>
          </a:p>
          <a:p>
            <a:pPr>
              <a:defRPr sz="1800"/>
            </a:pPr>
            <a:r>
              <a:t>Características principales:</a:t>
            </a:r>
          </a:p>
          <a:p>
            <a:pPr lvl="1">
              <a:defRPr sz="1600"/>
            </a:pPr>
            <a:r>
              <a:t>Manipulación de UI: clicks, entrada de datos, navegación</a:t>
            </a:r>
          </a:p>
          <a:p>
            <a:pPr lvl="1">
              <a:defRPr sz="1600"/>
            </a:pPr>
            <a:r>
              <a:t>Integración con múltiples sistemas sin APIs</a:t>
            </a:r>
          </a:p>
          <a:p>
            <a:pPr lvl="1">
              <a:defRPr sz="1600"/>
            </a:pPr>
            <a:r>
              <a:t>Ejecución de workflows repetitivos</a:t>
            </a:r>
          </a:p>
          <a:p>
            <a:pPr lvl="1">
              <a:defRPr sz="1600"/>
            </a:pPr>
            <a:r>
              <a:t>No requiere cambios en infraestructura existente</a:t>
            </a:r>
          </a:p>
          <a:p>
            <a:pPr>
              <a:defRPr sz="1800"/>
            </a:pPr>
            <a:r>
              <a:t>Limitaciones tradicionales:</a:t>
            </a:r>
          </a:p>
          <a:p>
            <a:pPr lvl="1">
              <a:defRPr sz="1600"/>
            </a:pPr>
            <a:r>
              <a:t>Rígido: no maneja excepciones no programadas</a:t>
            </a:r>
          </a:p>
          <a:p>
            <a:pPr lvl="1">
              <a:defRPr sz="1600"/>
            </a:pPr>
            <a:r>
              <a:t>Sin aprendizaje ni adaptación</a:t>
            </a:r>
          </a:p>
          <a:p>
            <a:pPr lvl="1">
              <a:defRPr sz="1600"/>
            </a:pPr>
            <a:r>
              <a:t>Requiere mantenimiento constante ante cambios de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RPA vs Agentic AI: La Gran Transición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RPA: Basado en reglas explícitas</a:t>
            </a:r>
          </a:p>
          <a:p>
            <a:pPr lvl="1">
              <a:defRPr sz="1600"/>
            </a:pPr>
            <a:r>
              <a:t>Maneja datos estructurados</a:t>
            </a:r>
          </a:p>
          <a:p>
            <a:pPr lvl="1">
              <a:defRPr sz="1600"/>
            </a:pPr>
            <a:r>
              <a:t>Tecnología madura (15+ años)</a:t>
            </a:r>
          </a:p>
          <a:p>
            <a:pPr lvl="1">
              <a:defRPr sz="1600"/>
            </a:pPr>
            <a:r>
              <a:t>Mercado: $8.2B proyectado en 2028</a:t>
            </a:r>
          </a:p>
          <a:p>
            <a:pPr>
              <a:defRPr sz="1800"/>
            </a:pPr>
            <a:r>
              <a:t>Agentic AI: Toma decisiones autónomas</a:t>
            </a:r>
          </a:p>
          <a:p>
            <a:pPr lvl="1">
              <a:defRPr sz="1600"/>
            </a:pPr>
            <a:r>
              <a:t>Procesa datos no estructurados (NLP, visión)</a:t>
            </a:r>
          </a:p>
          <a:p>
            <a:pPr lvl="1">
              <a:defRPr sz="1600"/>
            </a:pPr>
            <a:r>
              <a:t>Aprende y se adapta continuamente</a:t>
            </a:r>
          </a:p>
          <a:p>
            <a:pPr lvl="1">
              <a:defRPr sz="1600"/>
            </a:pPr>
            <a:r>
              <a:t>33% de apps empresariales en 2028 (vs &lt;1% en 2024)</a:t>
            </a:r>
          </a:p>
          <a:p>
            <a:pPr>
              <a:defRPr sz="1800"/>
            </a:pPr>
            <a:r>
              <a:t>Tendencia: Agentes IA controlando bots RPA como herramientas</a:t>
            </a:r>
          </a:p>
          <a:p>
            <a:pPr>
              <a:defRPr sz="1800"/>
            </a:pPr>
            <a:r>
              <a:t>Coexistencia: Combinación RPA + Agentic AI = velocidad + inteligencia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de RPA y 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Plataformas principales:</a:t>
            </a:r>
          </a:p>
          <a:p>
            <a:pPr lvl="1">
              <a:defRPr sz="1600"/>
            </a:pPr>
            <a:r>
              <a:t>UiPath, Automation Anywhere, Blue Prism</a:t>
            </a:r>
          </a:p>
          <a:p>
            <a:pPr lvl="1">
              <a:defRPr sz="1600"/>
            </a:pPr>
            <a:r>
              <a:t>Power Automate (Microsoft)</a:t>
            </a:r>
          </a:p>
          <a:p>
            <a:pPr>
              <a:defRPr sz="1800"/>
            </a:pPr>
            <a:r>
              <a:t>Casos de uso comunes:</a:t>
            </a:r>
          </a:p>
          <a:p>
            <a:pPr lvl="1">
              <a:defRPr sz="1600"/>
            </a:pPr>
            <a:r>
              <a:t>Procesamiento de facturas y documentos financieros</a:t>
            </a:r>
          </a:p>
          <a:p>
            <a:pPr lvl="1">
              <a:defRPr sz="1600"/>
            </a:pPr>
            <a:r>
              <a:t>Migración de datos entre sistemas</a:t>
            </a:r>
          </a:p>
          <a:p>
            <a:pPr lvl="1">
              <a:defRPr sz="1600"/>
            </a:pPr>
            <a:r>
              <a:t>Atención al cliente (chatbots básicos)</a:t>
            </a:r>
          </a:p>
          <a:p>
            <a:pPr lvl="1">
              <a:defRPr sz="1600"/>
            </a:pPr>
            <a:r>
              <a:t>Reportería y consolidación de datos</a:t>
            </a:r>
          </a:p>
          <a:p>
            <a:pPr>
              <a:defRPr sz="1800"/>
            </a:pPr>
            <a:r>
              <a:t>Proyección: Gasto RPA se duplicará 2024-2028</a:t>
            </a:r>
          </a:p>
          <a:p>
            <a:pPr>
              <a:defRPr sz="1800"/>
            </a:pPr>
            <a:r>
              <a:t>Futuro: RPA como capa de ejecución para decisiones de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IPaaS: Automatización Personal y Corporativa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Integration Platform as a Service (IPaaS)</a:t>
            </a:r>
          </a:p>
          <a:p>
            <a:pPr>
              <a:defRPr sz="1800"/>
            </a:pPr>
            <a:r>
              <a:t>Zapier: Democratización de la automatización</a:t>
            </a:r>
          </a:p>
          <a:p>
            <a:pPr lvl="1">
              <a:defRPr sz="1600"/>
            </a:pPr>
            <a:r>
              <a:t>6,000+ integraciones, ideal para equipos no técnicos</a:t>
            </a:r>
          </a:p>
          <a:p>
            <a:pPr lvl="1">
              <a:defRPr sz="1600"/>
            </a:pPr>
            <a:r>
              <a:t>$29.99/mes (750 tasks) - Plan Professional</a:t>
            </a:r>
          </a:p>
          <a:p>
            <a:pPr>
              <a:defRPr sz="1800"/>
            </a:pPr>
            <a:r>
              <a:t>Make (Integromat): Balance entre simplicidad y poder</a:t>
            </a:r>
          </a:p>
          <a:p>
            <a:pPr lvl="1">
              <a:defRPr sz="1600"/>
            </a:pPr>
            <a:r>
              <a:t>1,500 integraciones, lógica condicional visual</a:t>
            </a:r>
          </a:p>
          <a:p>
            <a:pPr lvl="1">
              <a:defRPr sz="1600"/>
            </a:pPr>
            <a:r>
              <a:t>Europeo, menor costo que Zapier</a:t>
            </a:r>
          </a:p>
          <a:p>
            <a:pPr>
              <a:defRPr sz="1800"/>
            </a:pPr>
            <a:r>
              <a:t>n8n: Poder para desarrolladores</a:t>
            </a:r>
          </a:p>
          <a:p>
            <a:pPr lvl="1">
              <a:defRPr sz="1600"/>
            </a:pPr>
            <a:r>
              <a:t>Open source, self-hosted, 200+ integraciones</a:t>
            </a:r>
          </a:p>
          <a:p>
            <a:pPr lvl="1">
              <a:defRPr sz="1600"/>
            </a:pPr>
            <a:r>
              <a:t>70 nodos de LangChain - verdaderamente AI-native</a:t>
            </a:r>
          </a:p>
          <a:p>
            <a:pPr lvl="1">
              <a:defRPr sz="1600"/>
            </a:pPr>
            <a:r>
              <a:t>€24/mes cloud o gratis self-hosted</a:t>
            </a:r>
          </a:p>
          <a:p>
            <a:pPr>
              <a:defRPr sz="1800"/>
            </a:pPr>
            <a:r>
              <a:t>Tendencia 2025: Integración profunda con LLMs y agentes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Revolución de los LLMs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Autónomos Pre-LLM vs Post-LLM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Era Pre-LLM (antes de 2022):</a:t>
            </a:r>
          </a:p>
          <a:p>
            <a:pPr lvl="1">
              <a:defRPr sz="1600"/>
            </a:pPr>
            <a:r>
              <a:t>Sistemas expertos basados en reglas</a:t>
            </a:r>
          </a:p>
          <a:p>
            <a:pPr lvl="1">
              <a:defRPr sz="1600"/>
            </a:pPr>
            <a:r>
              <a:t>Machine Learning supervisado para tareas específicas</a:t>
            </a:r>
          </a:p>
          <a:p>
            <a:pPr lvl="1">
              <a:defRPr sz="1600"/>
            </a:pPr>
            <a:r>
              <a:t>Procesamiento limitado de lenguaje natural</a:t>
            </a:r>
          </a:p>
          <a:p>
            <a:pPr lvl="1">
              <a:defRPr sz="1600"/>
            </a:pPr>
            <a:r>
              <a:t>Automatización rígida sin comprensión contextual</a:t>
            </a:r>
          </a:p>
          <a:p>
            <a:pPr>
              <a:defRPr sz="1800"/>
            </a:pPr>
            <a:r>
              <a:t>Era Post-LLM (2023-2025):</a:t>
            </a:r>
          </a:p>
          <a:p>
            <a:pPr lvl="1">
              <a:defRPr sz="1600"/>
            </a:pPr>
            <a:r>
              <a:t>Comprensión profunda de lenguaje y contexto</a:t>
            </a:r>
          </a:p>
          <a:p>
            <a:pPr lvl="1">
              <a:defRPr sz="1600"/>
            </a:pPr>
            <a:r>
              <a:t>Razonamiento sobre problemas complejos</a:t>
            </a:r>
          </a:p>
          <a:p>
            <a:pPr lvl="1">
              <a:defRPr sz="1600"/>
            </a:pPr>
            <a:r>
              <a:t>Generación de código y soluciones creativas</a:t>
            </a:r>
          </a:p>
          <a:p>
            <a:pPr lvl="1">
              <a:defRPr sz="1600"/>
            </a:pPr>
            <a:r>
              <a:t>Adaptación a nuevas tareas con instrucciones (few-shot)</a:t>
            </a:r>
          </a:p>
          <a:p>
            <a:pPr>
              <a:defRPr sz="1800"/>
            </a:pPr>
            <a:r>
              <a:t>Transformación: De herramientas que ejecutan a agentes que piensan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Open Source 2025: Llama, Qwen, DeepSeek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Meta Llama 3.3 70B: Compite con GPT-4o</a:t>
            </a:r>
          </a:p>
          <a:p>
            <a:pPr lvl="1">
              <a:defRPr sz="1600"/>
            </a:pPr>
            <a:r>
              <a:t>Propósito general, excelente para edge devices</a:t>
            </a:r>
          </a:p>
          <a:p>
            <a:pPr lvl="1">
              <a:defRPr sz="1600"/>
            </a:pPr>
            <a:r>
              <a:t>Variantes: 8B, 70B, 405B parámetros</a:t>
            </a:r>
          </a:p>
          <a:p>
            <a:pPr>
              <a:defRPr sz="1800"/>
            </a:pPr>
            <a:r>
              <a:t>Alibaba Qwen 2.5: Líder multilingüe</a:t>
            </a:r>
          </a:p>
          <a:p>
            <a:pPr lvl="1">
              <a:defRPr sz="1600"/>
            </a:pPr>
            <a:r>
              <a:t>Variante 72B con capacidades multilíngües superiores</a:t>
            </a:r>
          </a:p>
          <a:p>
            <a:pPr lvl="1">
              <a:defRPr sz="1600"/>
            </a:pPr>
            <a:r>
              <a:t>Qwen 2.5 Coder: especializado en programación</a:t>
            </a:r>
          </a:p>
          <a:p>
            <a:pPr>
              <a:defRPr sz="1800"/>
            </a:pPr>
            <a:r>
              <a:t>DeepSeek-V3: El campeón open source</a:t>
            </a:r>
          </a:p>
          <a:p>
            <a:pPr lvl="1">
              <a:defRPr sz="1600"/>
            </a:pPr>
            <a:r>
              <a:t>671B parámetros, solo 37B activos (MoE)</a:t>
            </a:r>
          </a:p>
          <a:p>
            <a:pPr lvl="1">
              <a:defRPr sz="1600"/>
            </a:pPr>
            <a:r>
              <a:t>Entrenado por $5.6M, compite con modelos cerrados top</a:t>
            </a:r>
          </a:p>
          <a:p>
            <a:pPr lvl="1">
              <a:defRPr sz="1600"/>
            </a:pPr>
            <a:r>
              <a:t>DeepSeek-R1: Supera a o1-mini en benchmarks</a:t>
            </a:r>
          </a:p>
          <a:p>
            <a:pPr>
              <a:defRPr sz="1800"/>
            </a:pPr>
            <a:r>
              <a:t>Ecosistema open source cerrando brecha con modelos propietarios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de Frontera: GPT-4o, Gemini 2.5, Claude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OpenAI GPT-4o (Omni): Multimodal nativo</a:t>
            </a:r>
          </a:p>
          <a:p>
            <a:pPr lvl="1">
              <a:defRPr sz="1600"/>
            </a:pPr>
            <a:r>
              <a:t>Texto, audio, imágenes en un solo modelo</a:t>
            </a:r>
          </a:p>
          <a:p>
            <a:pPr lvl="1">
              <a:defRPr sz="1600"/>
            </a:pPr>
            <a:r>
              <a:t>Marzo 2025: Generación nativa de imágenes (reemplaza DALL-E)</a:t>
            </a:r>
          </a:p>
          <a:p>
            <a:pPr lvl="1">
              <a:defRPr sz="1600"/>
            </a:pPr>
            <a:r>
              <a:t>128K tokens de contexto</a:t>
            </a:r>
          </a:p>
          <a:p>
            <a:pPr>
              <a:defRPr sz="1800"/>
            </a:pPr>
            <a:r>
              <a:t>Google Gemini 2.5 Pro: Contexto masivo</a:t>
            </a:r>
          </a:p>
          <a:p>
            <a:pPr lvl="1">
              <a:defRPr sz="1600"/>
            </a:pPr>
            <a:r>
              <a:t>1M tokens (pronto 2M) - supera GPT-4o</a:t>
            </a:r>
          </a:p>
          <a:p>
            <a:pPr lvl="1">
              <a:defRPr sz="1600"/>
            </a:pPr>
            <a:r>
              <a:t>#1 en LMArena leaderboard</a:t>
            </a:r>
          </a:p>
          <a:p>
            <a:pPr lvl="1">
              <a:defRPr sz="1600"/>
            </a:pPr>
            <a:r>
              <a:t>Gemini Flash 2.0: velocidad + razonamiento</a:t>
            </a:r>
          </a:p>
          <a:p>
            <a:pPr>
              <a:defRPr sz="1800"/>
            </a:pPr>
            <a:r>
              <a:t>Anthropic Claude: Razonamiento y seguridad</a:t>
            </a:r>
          </a:p>
          <a:p>
            <a:pPr lvl="1">
              <a:defRPr sz="1600"/>
            </a:pPr>
            <a:r>
              <a:t>Sonnet 3.5, Opus: líderes en tareas complejas</a:t>
            </a:r>
          </a:p>
          <a:p>
            <a:pPr>
              <a:defRPr sz="1800"/>
            </a:pPr>
            <a:r>
              <a:t>Comparativa: Gemini lidera en contexto, GPT-4o en velocidad/costo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Test-Time Computing: o1, o3 y Razonamiento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¿Qué es Test-Time Compute?</a:t>
            </a:r>
          </a:p>
          <a:p>
            <a:pPr lvl="1">
              <a:defRPr sz="1600"/>
            </a:pPr>
            <a:r>
              <a:t>Poder computacional usado durante inferencia, no entrenamiento</a:t>
            </a:r>
          </a:p>
          <a:p>
            <a:pPr lvl="1">
              <a:defRPr sz="1600"/>
            </a:pPr>
            <a:r>
              <a:t>El modelo 'piensa' más tiempo antes de responder</a:t>
            </a:r>
          </a:p>
          <a:p>
            <a:pPr>
              <a:defRPr sz="1800"/>
            </a:pPr>
            <a:r>
              <a:t>OpenAI o1: Chain of Thought aprendido</a:t>
            </a:r>
          </a:p>
          <a:p>
            <a:pPr lvl="1">
              <a:defRPr sz="1600"/>
            </a:pPr>
            <a:r>
              <a:t>Aprende a refinar estrategias vía RL</a:t>
            </a:r>
          </a:p>
          <a:p>
            <a:pPr lvl="1">
              <a:defRPr sz="1600"/>
            </a:pPr>
            <a:r>
              <a:t>Performance mejora con más tiempo de pensamiento</a:t>
            </a:r>
          </a:p>
          <a:p>
            <a:pPr>
              <a:defRPr sz="1800"/>
            </a:pPr>
            <a:r>
              <a:t>OpenAI o3: El siguiente nivel (2025)</a:t>
            </a:r>
          </a:p>
          <a:p>
            <a:pPr lvl="1">
              <a:defRPr sz="1600"/>
            </a:pPr>
            <a:r>
              <a:t>Performance extraordinario en ARC, FrontierMath</a:t>
            </a:r>
          </a:p>
          <a:p>
            <a:pPr>
              <a:defRPr sz="1800"/>
            </a:pPr>
            <a:r>
              <a:t>Técnicas: CoT, revisión de respuestas, backtracking, sampling múltiple</a:t>
            </a:r>
          </a:p>
          <a:p>
            <a:pPr>
              <a:defRPr sz="1800"/>
            </a:pPr>
            <a:r>
              <a:t>Implicación: Shift de escalar tamaño a mejorar estrategias de inferencia</a:t>
            </a:r>
          </a:p>
          <a:p>
            <a:pPr>
              <a:defRPr sz="1800"/>
            </a:pPr>
            <a:r>
              <a:t>Gemini 2.5 Pro reasoning: Cementa el poder de TTC en leaderboards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Mixture of Experts (MoE): DeepSeek-V3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Arquitectura MoE: Eficiencia a escala masiva</a:t>
            </a:r>
          </a:p>
          <a:p>
            <a:pPr lvl="1">
              <a:defRPr sz="1600"/>
            </a:pPr>
            <a:r>
              <a:t>Múltiples redes expertas especializadas</a:t>
            </a:r>
          </a:p>
          <a:p>
            <a:pPr lvl="1">
              <a:defRPr sz="1600"/>
            </a:pPr>
            <a:r>
              <a:t>Router decide qué expertos activar por token</a:t>
            </a:r>
          </a:p>
          <a:p>
            <a:pPr>
              <a:defRPr sz="1800"/>
            </a:pPr>
            <a:r>
              <a:t>DeepSeek-V3: 671B parámetros, 37B activos</a:t>
            </a:r>
          </a:p>
          <a:p>
            <a:pPr lvl="1">
              <a:defRPr sz="1600"/>
            </a:pPr>
            <a:r>
              <a:t>Solo 5.5% de parámetros activos por token</a:t>
            </a:r>
          </a:p>
          <a:p>
            <a:pPr lvl="1">
              <a:defRPr sz="1600"/>
            </a:pPr>
            <a:r>
              <a:t>Entrenamiento: 2.788M GPU hours H800</a:t>
            </a:r>
          </a:p>
          <a:p>
            <a:pPr lvl="1">
              <a:defRPr sz="1600"/>
            </a:pPr>
            <a:r>
              <a:t>Costo estimado: $5.6M (revolucionariamente bajo)</a:t>
            </a:r>
          </a:p>
          <a:p>
            <a:pPr>
              <a:defRPr sz="1800"/>
            </a:pPr>
            <a:r>
              <a:t>Innovaciones técnicas:</a:t>
            </a:r>
          </a:p>
          <a:p>
            <a:pPr lvl="1">
              <a:defRPr sz="1600"/>
            </a:pPr>
            <a:r>
              <a:t>Shared experts + routed experts</a:t>
            </a:r>
          </a:p>
          <a:p>
            <a:pPr lvl="1">
              <a:defRPr sz="1600"/>
            </a:pPr>
            <a:r>
              <a:t>Multi-Head Latent Attention (MLA)</a:t>
            </a:r>
          </a:p>
          <a:p>
            <a:pPr lvl="1">
              <a:defRPr sz="1600"/>
            </a:pPr>
            <a:r>
              <a:t>Multi-Token Prediction (MTP)</a:t>
            </a:r>
          </a:p>
          <a:p>
            <a:pPr>
              <a:defRPr sz="1800"/>
            </a:pPr>
            <a:r>
              <a:t>Resultado: Performance cerrado a costo open source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y GraphRAG: Técnicas Avanzadas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Retrieval-Augmented Generation (RAG):</a:t>
            </a:r>
          </a:p>
          <a:p>
            <a:pPr lvl="1">
              <a:defRPr sz="1600"/>
            </a:pPr>
            <a:r>
              <a:t>Combina LLMs con conocimiento externo actualizado</a:t>
            </a:r>
          </a:p>
          <a:p>
            <a:pPr lvl="1">
              <a:defRPr sz="1600"/>
            </a:pPr>
            <a:r>
              <a:t>Reduce alucinaciones, mejora precisión factual</a:t>
            </a:r>
          </a:p>
          <a:p>
            <a:pPr>
              <a:defRPr sz="1800"/>
            </a:pPr>
            <a:r>
              <a:t>GraphRAG: Evolución usando grafos de conocimiento</a:t>
            </a:r>
          </a:p>
          <a:p>
            <a:pPr lvl="1">
              <a:defRPr sz="1600"/>
            </a:pPr>
            <a:r>
              <a:t>Mapea relaciones entre conceptos</a:t>
            </a:r>
          </a:p>
          <a:p>
            <a:pPr lvl="1">
              <a:defRPr sz="1600"/>
            </a:pPr>
            <a:r>
              <a:t>Retrieval basado en estructura y semántica</a:t>
            </a:r>
          </a:p>
          <a:p>
            <a:pPr lvl="1">
              <a:defRPr sz="1600"/>
            </a:pPr>
            <a:r>
              <a:t>Precisión determinista hasta 99%</a:t>
            </a:r>
          </a:p>
          <a:p>
            <a:pPr>
              <a:defRPr sz="1800"/>
            </a:pPr>
            <a:r>
              <a:t>Técnicas avanzadas 2025:</a:t>
            </a:r>
          </a:p>
          <a:p>
            <a:pPr lvl="1">
              <a:defRPr sz="1600"/>
            </a:pPr>
            <a:r>
              <a:t>Long RAG: maneja documentos extensos completos</a:t>
            </a:r>
          </a:p>
          <a:p>
            <a:pPr lvl="1">
              <a:defRPr sz="1600"/>
            </a:pPr>
            <a:r>
              <a:t>GRAG: estrategia divide-y-conquista para subgrafos</a:t>
            </a:r>
          </a:p>
          <a:p>
            <a:pPr lvl="1">
              <a:defRPr sz="1600"/>
            </a:pPr>
            <a:r>
              <a:t>Integración de vector search + taxonomías</a:t>
            </a:r>
          </a:p>
          <a:p>
            <a:pPr>
              <a:defRPr sz="1800"/>
            </a:pPr>
            <a:r>
              <a:t>Aplicación: Sistemas que requieren conocimiento profundo de dominio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Multimodalidad y Modelos Omni-Modal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Multimodales: GPT-4o con Generación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Evolución de multimodalidad:</a:t>
            </a:r>
          </a:p>
          <a:p>
            <a:pPr lvl="1">
              <a:defRPr sz="1600"/>
            </a:pPr>
            <a:r>
              <a:t>Primera generación: modelos separados unidos</a:t>
            </a:r>
          </a:p>
          <a:p>
            <a:pPr lvl="1">
              <a:defRPr sz="1600"/>
            </a:pPr>
            <a:r>
              <a:t>Segunda generación: procesamiento unificado</a:t>
            </a:r>
          </a:p>
          <a:p>
            <a:pPr lvl="1">
              <a:defRPr sz="1600"/>
            </a:pPr>
            <a:r>
              <a:t>Tercera generación 2025: generación nativa omni-modal</a:t>
            </a:r>
          </a:p>
          <a:p>
            <a:pPr>
              <a:defRPr sz="1800"/>
            </a:pPr>
            <a:r>
              <a:t>GPT-4o Marzo 2025: Generación nativa de imágenes</a:t>
            </a:r>
          </a:p>
          <a:p>
            <a:pPr lvl="1">
              <a:defRPr sz="1600"/>
            </a:pPr>
            <a:r>
              <a:t>Reemplaza DALL-E 3 en ChatGPT</a:t>
            </a:r>
          </a:p>
          <a:p>
            <a:pPr lvl="1">
              <a:defRPr sz="1600"/>
            </a:pPr>
            <a:r>
              <a:t>Imagen generada por mismo modelo que procesa texto/audio</a:t>
            </a:r>
          </a:p>
          <a:p>
            <a:pPr>
              <a:defRPr sz="1800"/>
            </a:pPr>
            <a:r>
              <a:t>Ventajas de procesamiento unificado:</a:t>
            </a:r>
          </a:p>
          <a:p>
            <a:pPr lvl="1">
              <a:defRPr sz="1600"/>
            </a:pPr>
            <a:r>
              <a:t>Coherencia cross-modal</a:t>
            </a:r>
          </a:p>
          <a:p>
            <a:pPr lvl="1">
              <a:defRPr sz="1600"/>
            </a:pPr>
            <a:r>
              <a:t>Latencia reducida (modelo único)</a:t>
            </a:r>
          </a:p>
          <a:p>
            <a:pPr lvl="1">
              <a:defRPr sz="1600"/>
            </a:pPr>
            <a:r>
              <a:t>Comprensión contextual profunda entre modalidades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Omni-Modal y Any-to-Any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Omni-Modal: Procesamiento simultáneo de todas las modalidades</a:t>
            </a:r>
          </a:p>
          <a:p>
            <a:pPr lvl="1">
              <a:defRPr sz="1600"/>
            </a:pPr>
            <a:r>
              <a:t>Texto ↔ Audio ↔ Imagen ↔ Video</a:t>
            </a:r>
          </a:p>
          <a:p>
            <a:pPr lvl="1">
              <a:defRPr sz="1600"/>
            </a:pPr>
            <a:r>
              <a:t>GPT-4o: texto, audio, imagen en modelo único</a:t>
            </a:r>
          </a:p>
          <a:p>
            <a:pPr>
              <a:defRPr sz="1800"/>
            </a:pPr>
            <a:r>
              <a:t>Any-to-Any: Cualquier modalidad como entrada/salida</a:t>
            </a:r>
          </a:p>
          <a:p>
            <a:pPr lvl="1">
              <a:defRPr sz="1600"/>
            </a:pPr>
            <a:r>
              <a:t>Arquitectura flexible de transformación</a:t>
            </a:r>
          </a:p>
          <a:p>
            <a:pPr lvl="1">
              <a:defRPr sz="1600"/>
            </a:pPr>
            <a:r>
              <a:t>Ejemplo: Audio → Imagen, Imagen → Audio</a:t>
            </a:r>
          </a:p>
          <a:p>
            <a:pPr>
              <a:defRPr sz="1800"/>
            </a:pPr>
            <a:r>
              <a:t>Casos de uso emergentes:</a:t>
            </a:r>
          </a:p>
          <a:p>
            <a:pPr lvl="1">
              <a:defRPr sz="1600"/>
            </a:pPr>
            <a:r>
              <a:t>Asistentes conversacionales con voz natural (latencia &lt;300ms)</a:t>
            </a:r>
          </a:p>
          <a:p>
            <a:pPr lvl="1">
              <a:defRPr sz="1600"/>
            </a:pPr>
            <a:r>
              <a:t>Análisis de video en tiempo real con descripción</a:t>
            </a:r>
          </a:p>
          <a:p>
            <a:pPr lvl="1">
              <a:defRPr sz="1600"/>
            </a:pPr>
            <a:r>
              <a:t>Generación de contenido multimedia integrado</a:t>
            </a:r>
          </a:p>
          <a:p>
            <a:pPr lvl="1">
              <a:defRPr sz="1600"/>
            </a:pPr>
            <a:r>
              <a:t>Accesibilidad: conversión automática entre modalidades</a:t>
            </a:r>
          </a:p>
          <a:p>
            <a:pPr>
              <a:defRPr sz="1800"/>
            </a:pPr>
            <a:r>
              <a:t>Tendencia: Modelos omni como estándar para agentes autónomos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de Multimodalidad en Autonomía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Robótica autónoma:</a:t>
            </a:r>
          </a:p>
          <a:p>
            <a:pPr lvl="1">
              <a:defRPr sz="1600"/>
            </a:pPr>
            <a:r>
              <a:t>Visión + lenguaje + control motor</a:t>
            </a:r>
          </a:p>
          <a:p>
            <a:pPr lvl="1">
              <a:defRPr sz="1600"/>
            </a:pPr>
            <a:r>
              <a:t>Instrucciones naturales → acciones robóticas</a:t>
            </a:r>
          </a:p>
          <a:p>
            <a:pPr>
              <a:defRPr sz="1800"/>
            </a:pPr>
            <a:r>
              <a:t>Asistentes personales avanzados:</a:t>
            </a:r>
          </a:p>
          <a:p>
            <a:pPr lvl="1">
              <a:defRPr sz="1600"/>
            </a:pPr>
            <a:r>
              <a:t>Conversación por voz con análisis visual</a:t>
            </a:r>
          </a:p>
          <a:p>
            <a:pPr lvl="1">
              <a:defRPr sz="1600"/>
            </a:pPr>
            <a:r>
              <a:t>Comprensión de contexto físico del usuario</a:t>
            </a:r>
          </a:p>
          <a:p>
            <a:pPr>
              <a:defRPr sz="1800"/>
            </a:pPr>
            <a:r>
              <a:t>Automatización científica:</a:t>
            </a:r>
          </a:p>
          <a:p>
            <a:pPr lvl="1">
              <a:defRPr sz="1600"/>
            </a:pPr>
            <a:r>
              <a:t>Análisis de imágenes microscópicas + papers + diseño experimentos</a:t>
            </a:r>
          </a:p>
          <a:p>
            <a:pPr>
              <a:defRPr sz="1800"/>
            </a:pPr>
            <a:r>
              <a:t>Educación adaptativa:</a:t>
            </a:r>
          </a:p>
          <a:p>
            <a:pPr lvl="1">
              <a:defRPr sz="1600"/>
            </a:pPr>
            <a:r>
              <a:t>Tutores que ven trabajo del estudiante y explican verbalmente</a:t>
            </a:r>
          </a:p>
          <a:p>
            <a:pPr>
              <a:defRPr sz="1800"/>
            </a:pPr>
            <a:r>
              <a:t>Ventaja competitiva: Agentes que perciben el mundo como humanos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Agentes y Sistemas Multi-Agente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Agentes IA: Definición y Capacidades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2025: 'The Year of the AI Agent' - Andrej Karpathy</a:t>
            </a:r>
          </a:p>
          <a:p>
            <a:pPr>
              <a:defRPr sz="1800"/>
            </a:pPr>
            <a:r>
              <a:t>Definición moderna de Agente IA:</a:t>
            </a:r>
          </a:p>
          <a:p>
            <a:pPr lvl="1">
              <a:defRPr sz="1600"/>
            </a:pPr>
            <a:r>
              <a:t>Software que completa tareas complejas con mínima supervisión</a:t>
            </a:r>
          </a:p>
          <a:p>
            <a:pPr lvl="1">
              <a:defRPr sz="1600"/>
            </a:pPr>
            <a:r>
              <a:t>Capacidad de razonar, planificar y aprender</a:t>
            </a:r>
          </a:p>
          <a:p>
            <a:pPr lvl="1">
              <a:defRPr sz="1600"/>
            </a:pPr>
            <a:r>
              <a:t>Interfaz con herramientas, APIs y otros agentes</a:t>
            </a:r>
          </a:p>
          <a:p>
            <a:pPr>
              <a:defRPr sz="1800"/>
            </a:pPr>
            <a:r>
              <a:t>Características clave:</a:t>
            </a:r>
          </a:p>
          <a:p>
            <a:pPr lvl="1">
              <a:defRPr sz="1600"/>
            </a:pPr>
            <a:r>
              <a:t>Autonomía: opera independientemente por períodos extendidos</a:t>
            </a:r>
          </a:p>
          <a:p>
            <a:pPr lvl="1">
              <a:defRPr sz="1600"/>
            </a:pPr>
            <a:r>
              <a:t>Percepción: entiende entorno a través de múltiples fuentes</a:t>
            </a:r>
          </a:p>
          <a:p>
            <a:pPr lvl="1">
              <a:defRPr sz="1600"/>
            </a:pPr>
            <a:r>
              <a:t>Acción: ejecuta operaciones en sistemas reales</a:t>
            </a:r>
          </a:p>
          <a:p>
            <a:pPr lvl="1">
              <a:defRPr sz="1600"/>
            </a:pPr>
            <a:r>
              <a:t>Adaptación: mejora basado en resultados</a:t>
            </a:r>
          </a:p>
          <a:p>
            <a:pPr>
              <a:defRPr sz="1800"/>
            </a:pPr>
            <a:r>
              <a:t>Adopción empresarial: 99% de devs explorando/desarrollando agentes</a:t>
            </a:r>
          </a:p>
          <a:p>
            <a:pPr>
              <a:defRPr sz="1800"/>
            </a:pPr>
            <a:r>
              <a:t>Proyección: 25% de empresas con pilotos en 2025, 50% en 2027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AutoGen: Conversaciones Multi-Agente (Microsoft)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Microsoft AutoGen: Framework conversacional</a:t>
            </a:r>
          </a:p>
          <a:p>
            <a:pPr>
              <a:defRPr sz="1800"/>
            </a:pPr>
            <a:r>
              <a:t>Paradigma: Agentes se comunican en lenguaje natural</a:t>
            </a:r>
          </a:p>
          <a:p>
            <a:pPr lvl="1">
              <a:defRPr sz="1600"/>
            </a:pPr>
            <a:r>
              <a:t>Definir múltiples agentes: Planner, Developer, Reviewer</a:t>
            </a:r>
          </a:p>
          <a:p>
            <a:pPr lvl="1">
              <a:defRPr sz="1600"/>
            </a:pPr>
            <a:r>
              <a:t>Conversación estructurada para completar tareas</a:t>
            </a:r>
          </a:p>
          <a:p>
            <a:pPr>
              <a:defRPr sz="1800"/>
            </a:pPr>
            <a:r>
              <a:t>Características distintivas:</a:t>
            </a:r>
          </a:p>
          <a:p>
            <a:pPr lvl="1">
              <a:defRPr sz="1600"/>
            </a:pPr>
            <a:r>
              <a:t>Ejecución de código integrada</a:t>
            </a:r>
          </a:p>
          <a:p>
            <a:pPr lvl="1">
              <a:defRPr sz="1600"/>
            </a:pPr>
            <a:r>
              <a:t>Manejo de tareas cortas y long-running agents</a:t>
            </a:r>
          </a:p>
          <a:p>
            <a:pPr lvl="1">
              <a:defRPr sz="1600"/>
            </a:pPr>
            <a:r>
              <a:t>Arquitectura escalable para enterprise</a:t>
            </a:r>
          </a:p>
          <a:p>
            <a:pPr>
              <a:defRPr sz="1800"/>
            </a:pPr>
            <a:r>
              <a:t>Ideal para:</a:t>
            </a:r>
          </a:p>
          <a:p>
            <a:pPr lvl="1">
              <a:defRPr sz="1600"/>
            </a:pPr>
            <a:r>
              <a:t>Developer tools y coding copilots</a:t>
            </a:r>
          </a:p>
          <a:p>
            <a:pPr lvl="1">
              <a:defRPr sz="1600"/>
            </a:pPr>
            <a:r>
              <a:t>Workflows empresariales complejos</a:t>
            </a:r>
          </a:p>
          <a:p>
            <a:pPr lvl="1">
              <a:defRPr sz="1600"/>
            </a:pPr>
            <a:r>
              <a:t>Ambientes Azure/enterprise</a:t>
            </a:r>
          </a:p>
          <a:p>
            <a:pPr>
              <a:defRPr sz="1800"/>
            </a:pPr>
            <a:r>
              <a:t>Ventaja: Flexibilidad en conversaciones dinámicas entre agentes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CrewAI: Equipos de Agentes por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CrewAI: Framework basado en roles y tareas</a:t>
            </a:r>
          </a:p>
          <a:p>
            <a:pPr>
              <a:defRPr sz="1800"/>
            </a:pPr>
            <a:r>
              <a:t>Filosofía: Equipos de especialistas colaborando</a:t>
            </a:r>
          </a:p>
          <a:p>
            <a:pPr lvl="1">
              <a:defRPr sz="1600"/>
            </a:pPr>
            <a:r>
              <a:t>Cada agente tiene rol, objetivo y conjunto de herramientas</a:t>
            </a:r>
          </a:p>
          <a:p>
            <a:pPr lvl="1">
              <a:defRPr sz="1600"/>
            </a:pPr>
            <a:r>
              <a:t>Tasks asignadas secuencialmente al equipo</a:t>
            </a:r>
          </a:p>
          <a:p>
            <a:pPr>
              <a:defRPr sz="1800"/>
            </a:pPr>
            <a:r>
              <a:t>Ventajas:</a:t>
            </a:r>
          </a:p>
          <a:p>
            <a:pPr lvl="1">
              <a:defRPr sz="1600"/>
            </a:pPr>
            <a:r>
              <a:t>Alto nivel de abstracción - fácil de aprender</a:t>
            </a:r>
          </a:p>
          <a:p>
            <a:pPr lvl="1">
              <a:defRPr sz="1600"/>
            </a:pPr>
            <a:r>
              <a:t>Beginner-friendly: el más accesible para empezar</a:t>
            </a:r>
          </a:p>
          <a:p>
            <a:pPr lvl="1">
              <a:defRPr sz="1600"/>
            </a:pPr>
            <a:r>
              <a:t>Enfoque en definición de roles y objetivos</a:t>
            </a:r>
          </a:p>
          <a:p>
            <a:pPr>
              <a:defRPr sz="1800"/>
            </a:pPr>
            <a:r>
              <a:t>Casos de uso típicos:</a:t>
            </a:r>
          </a:p>
          <a:p>
            <a:pPr lvl="1">
              <a:defRPr sz="1600"/>
            </a:pPr>
            <a:r>
              <a:t>Research teams: Researcher + Analyst + Writer</a:t>
            </a:r>
          </a:p>
          <a:p>
            <a:pPr lvl="1">
              <a:defRPr sz="1600"/>
            </a:pPr>
            <a:r>
              <a:t>Development crews: Backend + Frontend + QA</a:t>
            </a:r>
          </a:p>
          <a:p>
            <a:pPr lvl="1">
              <a:defRPr sz="1600"/>
            </a:pPr>
            <a:r>
              <a:t>Content creation: Writer + Editor + SEO Specialist</a:t>
            </a:r>
          </a:p>
          <a:p>
            <a:pPr>
              <a:defRPr sz="1800"/>
            </a:pPr>
            <a:r>
              <a:t>Recomendado para: Prototipado rápido y equipos pequeños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LangGraph: Grafos de Estados para Agentes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LangGraph: Framework de LangChain para agentes stateful</a:t>
            </a:r>
          </a:p>
          <a:p>
            <a:pPr>
              <a:defRPr sz="1800"/>
            </a:pPr>
            <a:r>
              <a:t>Paradigma: Agentes como grafos de estados</a:t>
            </a:r>
          </a:p>
          <a:p>
            <a:pPr lvl="1">
              <a:defRPr sz="1600"/>
            </a:pPr>
            <a:r>
              <a:t>Cada nodo = agente o tarea</a:t>
            </a:r>
          </a:p>
          <a:p>
            <a:pPr lvl="1">
              <a:defRPr sz="1600"/>
            </a:pPr>
            <a:r>
              <a:t>Transiciones basadas en lógica dinámica y memoria</a:t>
            </a:r>
          </a:p>
          <a:p>
            <a:pPr>
              <a:defRPr sz="1800"/>
            </a:pPr>
            <a:r>
              <a:t>Características únicas:</a:t>
            </a:r>
          </a:p>
          <a:p>
            <a:pPr lvl="1">
              <a:defRPr sz="1600"/>
            </a:pPr>
            <a:r>
              <a:t>Control preciso de flujo de ejecución</a:t>
            </a:r>
          </a:p>
          <a:p>
            <a:pPr lvl="1">
              <a:defRPr sz="1600"/>
            </a:pPr>
            <a:r>
              <a:t>Estado compartido entre nodos</a:t>
            </a:r>
          </a:p>
          <a:p>
            <a:pPr lvl="1">
              <a:defRPr sz="1600"/>
            </a:pPr>
            <a:r>
              <a:t>Ciclos y lógica condicional compleja</a:t>
            </a:r>
          </a:p>
          <a:p>
            <a:pPr>
              <a:defRPr sz="1800"/>
            </a:pPr>
            <a:r>
              <a:t>Ideal para:</a:t>
            </a:r>
          </a:p>
          <a:p>
            <a:pPr lvl="1">
              <a:defRPr sz="1600"/>
            </a:pPr>
            <a:r>
              <a:t>Workflows de producción complejos</a:t>
            </a:r>
          </a:p>
          <a:p>
            <a:pPr lvl="1">
              <a:defRPr sz="1600"/>
            </a:pPr>
            <a:r>
              <a:t>Sistemas que requieren control fino</a:t>
            </a:r>
          </a:p>
          <a:p>
            <a:pPr lvl="1">
              <a:defRPr sz="1600"/>
            </a:pPr>
            <a:r>
              <a:t>Aplicaciones stateful de larga duración</a:t>
            </a:r>
          </a:p>
          <a:p>
            <a:pPr>
              <a:defRPr sz="1800"/>
            </a:pPr>
            <a:r>
              <a:t>Ventaja: Máximo control y predictibilidad en producción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Comparativa: Cuándo Usar Cada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CrewAI: Simplicidad y velocidad</a:t>
            </a:r>
          </a:p>
          <a:p>
            <a:pPr lvl="1">
              <a:defRPr sz="1600"/>
            </a:pPr>
            <a:r>
              <a:t>✓ Prototipado rápido</a:t>
            </a:r>
          </a:p>
          <a:p>
            <a:pPr lvl="1">
              <a:defRPr sz="1600"/>
            </a:pPr>
            <a:r>
              <a:t>✓ Equipos con roles claros</a:t>
            </a:r>
          </a:p>
          <a:p>
            <a:pPr lvl="1">
              <a:defRPr sz="1600"/>
            </a:pPr>
            <a:r>
              <a:t>✗ Workflows muy complejos</a:t>
            </a:r>
          </a:p>
          <a:p>
            <a:pPr>
              <a:defRPr sz="1800"/>
            </a:pPr>
            <a:r>
              <a:t>LangGraph: Control y producción</a:t>
            </a:r>
          </a:p>
          <a:p>
            <a:pPr lvl="1">
              <a:defRPr sz="1600"/>
            </a:pPr>
            <a:r>
              <a:t>✓ Flujos stateful complejos</a:t>
            </a:r>
          </a:p>
          <a:p>
            <a:pPr lvl="1">
              <a:defRPr sz="1600"/>
            </a:pPr>
            <a:r>
              <a:t>✓ Aplicaciones enterprise críticas</a:t>
            </a:r>
          </a:p>
          <a:p>
            <a:pPr lvl="1">
              <a:defRPr sz="1600"/>
            </a:pPr>
            <a:r>
              <a:t>✗ Curva de aprendizaje pronunciada</a:t>
            </a:r>
          </a:p>
          <a:p>
            <a:pPr>
              <a:defRPr sz="1800"/>
            </a:pPr>
            <a:r>
              <a:t>AutoGen: Conversaciones dinámicas</a:t>
            </a:r>
          </a:p>
          <a:p>
            <a:pPr lvl="1">
              <a:defRPr sz="1600"/>
            </a:pPr>
            <a:r>
              <a:t>✓ Colaboración agente-agente</a:t>
            </a:r>
          </a:p>
          <a:p>
            <a:pPr lvl="1">
              <a:defRPr sz="1600"/>
            </a:pPr>
            <a:r>
              <a:t>✓ Coding copilots</a:t>
            </a:r>
          </a:p>
          <a:p>
            <a:pPr lvl="1">
              <a:defRPr sz="1600"/>
            </a:pPr>
            <a:r>
              <a:t>✗ Complejidad de configuración</a:t>
            </a:r>
          </a:p>
          <a:p>
            <a:pPr>
              <a:defRPr sz="1800"/>
            </a:pPr>
            <a:r>
              <a:t>Recomendación: Empezar con CrewAI, escalar a LangGraph para producción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Multi-Agente: Coordinación y Emergencia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Beneficios de sistemas multi-agente:</a:t>
            </a:r>
          </a:p>
          <a:p>
            <a:pPr lvl="1">
              <a:defRPr sz="1600"/>
            </a:pPr>
            <a:r>
              <a:t>Especialización: cada agente experto en su dominio</a:t>
            </a:r>
          </a:p>
          <a:p>
            <a:pPr lvl="1">
              <a:defRPr sz="1600"/>
            </a:pPr>
            <a:r>
              <a:t>Paralelización: múltiples tareas simultáneas</a:t>
            </a:r>
          </a:p>
          <a:p>
            <a:pPr lvl="1">
              <a:defRPr sz="1600"/>
            </a:pPr>
            <a:r>
              <a:t>Robustez: falla de un agente no colapsa sistema</a:t>
            </a:r>
          </a:p>
          <a:p>
            <a:pPr lvl="1">
              <a:defRPr sz="1600"/>
            </a:pPr>
            <a:r>
              <a:t>Escalabilidad: añadir agentes para nuevas capacidades</a:t>
            </a:r>
          </a:p>
          <a:p>
            <a:pPr>
              <a:defRPr sz="1800"/>
            </a:pPr>
            <a:r>
              <a:t>Retos de coordinación:</a:t>
            </a:r>
          </a:p>
          <a:p>
            <a:pPr lvl="1">
              <a:defRPr sz="1600"/>
            </a:pPr>
            <a:r>
              <a:t>Sincronización de estados compartidos</a:t>
            </a:r>
          </a:p>
          <a:p>
            <a:pPr lvl="1">
              <a:defRPr sz="1600"/>
            </a:pPr>
            <a:r>
              <a:t>Resolución de conflictos entre agentes</a:t>
            </a:r>
          </a:p>
          <a:p>
            <a:pPr lvl="1">
              <a:defRPr sz="1600"/>
            </a:pPr>
            <a:r>
              <a:t>Overhead de comunicación</a:t>
            </a:r>
          </a:p>
          <a:p>
            <a:pPr>
              <a:defRPr sz="1800"/>
            </a:pPr>
            <a:r>
              <a:t>Comportamiento emergente:</a:t>
            </a:r>
          </a:p>
          <a:p>
            <a:pPr lvl="1">
              <a:defRPr sz="1600"/>
            </a:pPr>
            <a:r>
              <a:t>Soluciones creativas no programadas explícitamente</a:t>
            </a:r>
          </a:p>
          <a:p>
            <a:pPr lvl="1">
              <a:defRPr sz="1600"/>
            </a:pPr>
            <a:r>
              <a:t>Inteligencia colectiva &gt; suma de partes</a:t>
            </a:r>
          </a:p>
          <a:p>
            <a:pPr>
              <a:defRPr sz="1800"/>
            </a:pPr>
            <a:r>
              <a:t>Aplicaciones: AlphaEvolve, agentes científicos, orquestación empresarial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AI Assistants y Ambientes Autónomos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AI Assistants (PAIA): Tendencias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Evolución de asistentes personales:</a:t>
            </a:r>
          </a:p>
          <a:p>
            <a:pPr lvl="1">
              <a:defRPr sz="1600"/>
            </a:pPr>
            <a:r>
              <a:t>2023: Responden preguntas (ChatGPT)</a:t>
            </a:r>
          </a:p>
          <a:p>
            <a:pPr lvl="1">
              <a:defRPr sz="1600"/>
            </a:pPr>
            <a:r>
              <a:t>2024: Ejecutan tareas específicas (agentes simples)</a:t>
            </a:r>
          </a:p>
          <a:p>
            <a:pPr lvl="1">
              <a:defRPr sz="1600"/>
            </a:pPr>
            <a:r>
              <a:t>2025: Autonomía proactiva y personalización profunda</a:t>
            </a:r>
          </a:p>
          <a:p>
            <a:pPr>
              <a:defRPr sz="1800"/>
            </a:pPr>
            <a:r>
              <a:t>Características emergentes 2025:</a:t>
            </a:r>
          </a:p>
          <a:p>
            <a:pPr lvl="1">
              <a:defRPr sz="1600"/>
            </a:pPr>
            <a:r>
              <a:t>Hyper-personalización: aprenden preferencias del usuario</a:t>
            </a:r>
          </a:p>
          <a:p>
            <a:pPr lvl="1">
              <a:defRPr sz="1600"/>
            </a:pPr>
            <a:r>
              <a:t>Acción autónoma: scheduling, reservas, gestión email</a:t>
            </a:r>
          </a:p>
          <a:p>
            <a:pPr lvl="1">
              <a:defRPr sz="1600"/>
            </a:pPr>
            <a:r>
              <a:t>Integración multiplataforma: trabajo + personal seamless</a:t>
            </a:r>
          </a:p>
          <a:p>
            <a:pPr>
              <a:defRPr sz="1800"/>
            </a:pPr>
            <a:r>
              <a:t>Proyección mercado: $3.3B → $21B en 2030</a:t>
            </a:r>
          </a:p>
          <a:p>
            <a:pPr>
              <a:defRPr sz="1800"/>
            </a:pPr>
            <a:r>
              <a:t>Ejemplos actuales:</a:t>
            </a:r>
          </a:p>
          <a:p>
            <a:pPr lvl="1">
              <a:defRPr sz="1600"/>
            </a:pPr>
            <a:r>
              <a:t>Thunai, Motion: gestión calendario autónoma</a:t>
            </a:r>
          </a:p>
          <a:p>
            <a:pPr lvl="1">
              <a:defRPr sz="1600"/>
            </a:pPr>
            <a:r>
              <a:t>Lindy: assistant workflows personalizables</a:t>
            </a:r>
          </a:p>
          <a:p>
            <a:pPr>
              <a:defRPr sz="1800"/>
            </a:pPr>
            <a:r>
              <a:t>Futuro: Asistentes que anticipan necesidades antes de pedirlas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Programación Autónoma: Cursor vs Windsurf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Nueva generación de IDEs con IA nativa</a:t>
            </a:r>
          </a:p>
          <a:p>
            <a:pPr>
              <a:defRPr sz="1800"/>
            </a:pPr>
            <a:r>
              <a:t>Cursor: Composer para multi-file editing</a:t>
            </a:r>
          </a:p>
          <a:p>
            <a:pPr lvl="1">
              <a:defRPr sz="1600"/>
            </a:pPr>
            <a:r>
              <a:t>Instrucciones → propone edits en múltiples archivos</a:t>
            </a:r>
          </a:p>
          <a:p>
            <a:pPr lvl="1">
              <a:defRPr sz="1600"/>
            </a:pPr>
            <a:r>
              <a:t>Usuario revisa y acepta cambios</a:t>
            </a:r>
          </a:p>
          <a:p>
            <a:pPr lvl="1">
              <a:defRPr sz="1600"/>
            </a:pPr>
            <a:r>
              <a:t>Ideal para: desarrollo serio con control</a:t>
            </a:r>
          </a:p>
          <a:p>
            <a:pPr>
              <a:defRPr sz="1800"/>
            </a:pPr>
            <a:r>
              <a:t>Windsurf: 'First Agentic IDE'</a:t>
            </a:r>
          </a:p>
          <a:p>
            <a:pPr lvl="1">
              <a:defRPr sz="1600"/>
            </a:pPr>
            <a:r>
              <a:t>Cascade: sistema más autónomo</a:t>
            </a:r>
          </a:p>
          <a:p>
            <a:pPr lvl="1">
              <a:defRPr sz="1600"/>
            </a:pPr>
            <a:r>
              <a:t>Propaga cambios multi-archivo automáticamente</a:t>
            </a:r>
          </a:p>
          <a:p>
            <a:pPr lvl="1">
              <a:defRPr sz="1600"/>
            </a:pPr>
            <a:r>
              <a:t>Balance entre autonomía e intuición</a:t>
            </a:r>
          </a:p>
          <a:p>
            <a:pPr>
              <a:defRPr sz="1800"/>
            </a:pPr>
            <a:r>
              <a:t>Características compartidas:</a:t>
            </a:r>
          </a:p>
          <a:p>
            <a:pPr lvl="1">
              <a:defRPr sz="1600"/>
            </a:pPr>
            <a:r>
              <a:t>Comprensión profunda de codebase</a:t>
            </a:r>
          </a:p>
          <a:p>
            <a:pPr lvl="1">
              <a:defRPr sz="1600"/>
            </a:pPr>
            <a:r>
              <a:t>Generación contextual de código</a:t>
            </a:r>
          </a:p>
          <a:p>
            <a:pPr lvl="1">
              <a:defRPr sz="1600"/>
            </a:pPr>
            <a:r>
              <a:t>Iteración basada en errores de compilación/tests</a:t>
            </a:r>
          </a:p>
          <a:p>
            <a:pPr>
              <a:defRPr sz="1800"/>
            </a:pPr>
            <a:r>
              <a:t>Adopción 2025: IDEs tradicionales integrando capacidades similares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Autónomo: Replit Agent, Bolt.new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Devin (Cognition Labs): Ingeniero de software autónomo completo</a:t>
            </a:r>
          </a:p>
          <a:p>
            <a:pPr lvl="1">
              <a:defRPr sz="1600"/>
            </a:pPr>
            <a:r>
              <a:t>Funciona como miembro del equipo</a:t>
            </a:r>
          </a:p>
          <a:p>
            <a:pPr lvl="1">
              <a:defRPr sz="1600"/>
            </a:pPr>
            <a:r>
              <a:t>End-to-end: diseño → código → testing → deployment</a:t>
            </a:r>
          </a:p>
          <a:p>
            <a:pPr>
              <a:defRPr sz="1800"/>
            </a:pPr>
            <a:r>
              <a:t>Replit Agent: Workspace autónomo en cloud</a:t>
            </a:r>
          </a:p>
          <a:p>
            <a:pPr lvl="1">
              <a:defRPr sz="1600"/>
            </a:pPr>
            <a:r>
              <a:t>Prompt → aplicación completa deployada</a:t>
            </a:r>
          </a:p>
          <a:p>
            <a:pPr lvl="1">
              <a:defRPr sz="1600"/>
            </a:pPr>
            <a:r>
              <a:t>One-click deployment integrado</a:t>
            </a:r>
          </a:p>
          <a:p>
            <a:pPr lvl="1">
              <a:defRPr sz="1600"/>
            </a:pPr>
            <a:r>
              <a:t>Benchmark: ranking más alto en tests comparativos</a:t>
            </a:r>
          </a:p>
          <a:p>
            <a:pPr>
              <a:defRPr sz="1800"/>
            </a:pPr>
            <a:r>
              <a:t>Bolt.new: Democratización desarrollo web</a:t>
            </a:r>
          </a:p>
          <a:p>
            <a:pPr lvl="1">
              <a:defRPr sz="1600"/>
            </a:pPr>
            <a:r>
              <a:t>Idea → app funcionando en minutos</a:t>
            </a:r>
          </a:p>
          <a:p>
            <a:pPr lvl="1">
              <a:defRPr sz="1600"/>
            </a:pPr>
            <a:r>
              <a:t>Dev server, detección errores, auto-fixes</a:t>
            </a:r>
          </a:p>
          <a:p>
            <a:pPr lvl="1">
              <a:defRPr sz="1600"/>
            </a:pPr>
            <a:r>
              <a:t>Ideal para: prototipado ultra-rápido</a:t>
            </a:r>
          </a:p>
          <a:p>
            <a:pPr>
              <a:defRPr sz="1800"/>
            </a:pPr>
            <a:r>
              <a:t>Tendencia: De 'asistentes que ayudan' a 'colegas que construyen'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Ambientes de Ejecución Autónoma y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Shift paradigma: código → deployment en un flujo</a:t>
            </a:r>
          </a:p>
          <a:p>
            <a:pPr>
              <a:defRPr sz="1800"/>
            </a:pPr>
            <a:r>
              <a:t>Replit: Infraestructura integrada</a:t>
            </a:r>
          </a:p>
          <a:p>
            <a:pPr lvl="1">
              <a:defRPr sz="1600"/>
            </a:pPr>
            <a:r>
              <a:t>Hosting, compute resources, dependencies automáticos</a:t>
            </a:r>
          </a:p>
          <a:p>
            <a:pPr lvl="1">
              <a:defRPr sz="1600"/>
            </a:pPr>
            <a:r>
              <a:t>Deploy instantáneo con un click</a:t>
            </a:r>
          </a:p>
          <a:p>
            <a:pPr>
              <a:defRPr sz="1800"/>
            </a:pPr>
            <a:r>
              <a:t>Vercel + v0.dev: Frontend autónomo</a:t>
            </a:r>
          </a:p>
          <a:p>
            <a:pPr lvl="1">
              <a:defRPr sz="1600"/>
            </a:pPr>
            <a:r>
              <a:t>Generación de componentes React</a:t>
            </a:r>
          </a:p>
          <a:p>
            <a:pPr lvl="1">
              <a:defRPr sz="1600"/>
            </a:pPr>
            <a:r>
              <a:t>Deploy automático a edge network</a:t>
            </a:r>
          </a:p>
          <a:p>
            <a:pPr>
              <a:defRPr sz="1800"/>
            </a:pPr>
            <a:r>
              <a:t>Consideraciones de seguridad:</a:t>
            </a:r>
          </a:p>
          <a:p>
            <a:pPr lvl="1">
              <a:defRPr sz="1600"/>
            </a:pPr>
            <a:r>
              <a:t>Sandboxing de ejecución de código</a:t>
            </a:r>
          </a:p>
          <a:p>
            <a:pPr lvl="1">
              <a:defRPr sz="1600"/>
            </a:pPr>
            <a:r>
              <a:t>Validación de dependencias</a:t>
            </a:r>
          </a:p>
          <a:p>
            <a:pPr lvl="1">
              <a:defRPr sz="1600"/>
            </a:pPr>
            <a:r>
              <a:t>Monitoreo de recursos</a:t>
            </a:r>
          </a:p>
          <a:p>
            <a:pPr>
              <a:defRPr sz="1800"/>
            </a:pPr>
            <a:r>
              <a:t>Implicación estudiantes: Barreras técnicas mínimas para deployment</a:t>
            </a:r>
          </a:p>
          <a:p>
            <a:pPr>
              <a:defRPr sz="1800"/>
            </a:pPr>
            <a:r>
              <a:t>Democratización: Cualquiera puede llevar idea a producción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Procesos Autónomos de Larga Duración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Temporal: De Minutos a Semanas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Cronología de duración de procesos autónomos:</a:t>
            </a:r>
          </a:p>
          <a:p>
            <a:pPr>
              <a:defRPr sz="1800"/>
            </a:pPr>
            <a:r>
              <a:t>2023: Segundos a minutos</a:t>
            </a:r>
          </a:p>
          <a:p>
            <a:pPr lvl="1">
              <a:defRPr sz="1600"/>
            </a:pPr>
            <a:r>
              <a:t>Respuestas de LLM a prompts individuales</a:t>
            </a:r>
          </a:p>
          <a:p>
            <a:pPr lvl="1">
              <a:defRPr sz="1600"/>
            </a:pPr>
            <a:r>
              <a:t>Ejecución de scripts simples</a:t>
            </a:r>
          </a:p>
          <a:p>
            <a:pPr>
              <a:defRPr sz="1800"/>
            </a:pPr>
            <a:r>
              <a:t>2024: Minutos a horas</a:t>
            </a:r>
          </a:p>
          <a:p>
            <a:pPr lvl="1">
              <a:defRPr sz="1600"/>
            </a:pPr>
            <a:r>
              <a:t>Agentes completando tareas multi-paso</a:t>
            </a:r>
          </a:p>
          <a:p>
            <a:pPr lvl="1">
              <a:defRPr sz="1600"/>
            </a:pPr>
            <a:r>
              <a:t>Workflows automatizados con decisiones</a:t>
            </a:r>
          </a:p>
          <a:p>
            <a:pPr>
              <a:defRPr sz="1800"/>
            </a:pPr>
            <a:r>
              <a:t>2025: Horas a días</a:t>
            </a:r>
          </a:p>
          <a:p>
            <a:pPr lvl="1">
              <a:defRPr sz="1600"/>
            </a:pPr>
            <a:r>
              <a:t>Long-running agents con checkpoints</a:t>
            </a:r>
          </a:p>
          <a:p>
            <a:pPr lvl="1">
              <a:defRPr sz="1600"/>
            </a:pPr>
            <a:r>
              <a:t>Proyectos de desarrollo completos</a:t>
            </a:r>
          </a:p>
          <a:p>
            <a:pPr>
              <a:defRPr sz="1800"/>
            </a:pPr>
            <a:r>
              <a:t>Futuro cercano: Días a semanas</a:t>
            </a:r>
          </a:p>
          <a:p>
            <a:pPr lvl="1">
              <a:defRPr sz="1600"/>
            </a:pPr>
            <a:r>
              <a:t>Investigación científica autónoma continua</a:t>
            </a:r>
          </a:p>
          <a:p>
            <a:pPr lvl="1">
              <a:defRPr sz="1600"/>
            </a:pPr>
            <a:r>
              <a:t>Operación empresarial 24/7 sin intervención</a:t>
            </a:r>
          </a:p>
          <a:p>
            <a:pPr>
              <a:defRPr sz="1800"/>
            </a:pPr>
            <a:r>
              <a:t>Habilitador clave: Arquitecturas stateful persistentes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Agentes de Larga Ejecución: Arquitecturas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Requisitos técnicos para operación extendida:</a:t>
            </a:r>
          </a:p>
          <a:p>
            <a:pPr>
              <a:defRPr sz="1800"/>
            </a:pPr>
            <a:r>
              <a:t>Persistencia de estado:</a:t>
            </a:r>
          </a:p>
          <a:p>
            <a:pPr lvl="1">
              <a:defRPr sz="1600"/>
            </a:pPr>
            <a:r>
              <a:t>Checkpointing regular de progreso</a:t>
            </a:r>
          </a:p>
          <a:p>
            <a:pPr lvl="1">
              <a:defRPr sz="1600"/>
            </a:pPr>
            <a:r>
              <a:t>Recovery automático de fallos</a:t>
            </a:r>
          </a:p>
          <a:p>
            <a:pPr lvl="1">
              <a:defRPr sz="1600"/>
            </a:pPr>
            <a:r>
              <a:t>Bases de datos para memoria de largo plazo</a:t>
            </a:r>
          </a:p>
          <a:p>
            <a:pPr>
              <a:defRPr sz="1800"/>
            </a:pPr>
            <a:r>
              <a:t>Gestión de recursos:</a:t>
            </a:r>
          </a:p>
          <a:p>
            <a:pPr lvl="1">
              <a:defRPr sz="1600"/>
            </a:pPr>
            <a:r>
              <a:t>Rate limiting de APIs</a:t>
            </a:r>
          </a:p>
          <a:p>
            <a:pPr lvl="1">
              <a:defRPr sz="1600"/>
            </a:pPr>
            <a:r>
              <a:t>Optimización de costos computacionales</a:t>
            </a:r>
          </a:p>
          <a:p>
            <a:pPr lvl="1">
              <a:defRPr sz="1600"/>
            </a:pPr>
            <a:r>
              <a:t>Monitoreo de health y performance</a:t>
            </a:r>
          </a:p>
          <a:p>
            <a:pPr>
              <a:defRPr sz="1800"/>
            </a:pPr>
            <a:r>
              <a:t>Supervisión y control:</a:t>
            </a:r>
          </a:p>
          <a:p>
            <a:pPr lvl="1">
              <a:defRPr sz="1600"/>
            </a:pPr>
            <a:r>
              <a:t>Human-in-the-loop configurable</a:t>
            </a:r>
          </a:p>
          <a:p>
            <a:pPr lvl="1">
              <a:defRPr sz="1600"/>
            </a:pPr>
            <a:r>
              <a:t>Alertas para decisiones críticas</a:t>
            </a:r>
          </a:p>
          <a:p>
            <a:pPr lvl="1">
              <a:defRPr sz="1600"/>
            </a:pPr>
            <a:r>
              <a:t>Kill switches y boundaries</a:t>
            </a:r>
          </a:p>
          <a:p>
            <a:pPr>
              <a:defRPr sz="1800"/>
            </a:pPr>
            <a:r>
              <a:t>Frameworks con soporte: AutoGen (persistent agents), LangGraph (stateful)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Interacción Paralela: Potencial Emergente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¿Qué desbloquea múltiples agentes en paralelo por días/semanas?</a:t>
            </a:r>
          </a:p>
          <a:p>
            <a:pPr>
              <a:defRPr sz="1800"/>
            </a:pPr>
            <a:r>
              <a:t>Exploración exhaustiva del espacio de soluciones:</a:t>
            </a:r>
          </a:p>
          <a:p>
            <a:pPr lvl="1">
              <a:defRPr sz="1600"/>
            </a:pPr>
            <a:r>
              <a:t>Agentes exploran ramas diferentes simultáneamente</a:t>
            </a:r>
          </a:p>
          <a:p>
            <a:pPr lvl="1">
              <a:defRPr sz="1600"/>
            </a:pPr>
            <a:r>
              <a:t>Convergencia en soluciones óptimas no obvias</a:t>
            </a:r>
          </a:p>
          <a:p>
            <a:pPr>
              <a:defRPr sz="1800"/>
            </a:pPr>
            <a:r>
              <a:t>Co-evolución de estrategias:</a:t>
            </a:r>
          </a:p>
          <a:p>
            <a:pPr lvl="1">
              <a:defRPr sz="1600"/>
            </a:pPr>
            <a:r>
              <a:t>Agentes aprenden de experimentos de otros</a:t>
            </a:r>
          </a:p>
          <a:p>
            <a:pPr lvl="1">
              <a:defRPr sz="1600"/>
            </a:pPr>
            <a:r>
              <a:t>Desarrollo de técnicas emergentes</a:t>
            </a:r>
          </a:p>
          <a:p>
            <a:pPr>
              <a:defRPr sz="1800"/>
            </a:pPr>
            <a:r>
              <a:t>Automatización de ciclos completos de innovación:</a:t>
            </a:r>
          </a:p>
          <a:p>
            <a:pPr lvl="1">
              <a:defRPr sz="1600"/>
            </a:pPr>
            <a:r>
              <a:t>Hipótesis → Experimento → Análisis → Refinamiento</a:t>
            </a:r>
          </a:p>
          <a:p>
            <a:pPr lvl="1">
              <a:defRPr sz="1600"/>
            </a:pPr>
            <a:r>
              <a:t>Sin pausas para decisión humana</a:t>
            </a:r>
          </a:p>
          <a:p>
            <a:pPr>
              <a:defRPr sz="1800"/>
            </a:pPr>
            <a:r>
              <a:t>Riesgos y consideraciones éticas:</a:t>
            </a:r>
          </a:p>
          <a:p>
            <a:pPr lvl="1">
              <a:defRPr sz="1600"/>
            </a:pPr>
            <a:r>
              <a:t>Drift de objetivos (alignment)</a:t>
            </a:r>
          </a:p>
          <a:p>
            <a:pPr lvl="1">
              <a:defRPr sz="1600"/>
            </a:pPr>
            <a:r>
              <a:t>Comportamiento impredecible emergente</a:t>
            </a:r>
          </a:p>
          <a:p>
            <a:pPr lvl="1">
              <a:defRPr sz="1600"/>
            </a:pPr>
            <a:r>
              <a:t>Necesidad de governance y límites claros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Automatización de la Ciencia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AlphaFold y el Nobel 2024: IA Revolucionando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Premio Nobel Química 2024:</a:t>
            </a:r>
          </a:p>
          <a:p>
            <a:pPr lvl="1">
              <a:defRPr sz="1600"/>
            </a:pPr>
            <a:r>
              <a:t>Demis Hassabis y John Jumper (DeepMind): AlphaFold</a:t>
            </a:r>
          </a:p>
          <a:p>
            <a:pPr lvl="1">
              <a:defRPr sz="1600"/>
            </a:pPr>
            <a:r>
              <a:t>David Baker: diseño computacional de proteínas</a:t>
            </a:r>
          </a:p>
          <a:p>
            <a:pPr>
              <a:defRPr sz="1800"/>
            </a:pPr>
            <a:r>
              <a:t>Premio Nobel Física 2024:</a:t>
            </a:r>
          </a:p>
          <a:p>
            <a:pPr lvl="1">
              <a:defRPr sz="1600"/>
            </a:pPr>
            <a:r>
              <a:t>Pioneers de neural networks (fundamentos del ML)</a:t>
            </a:r>
          </a:p>
          <a:p>
            <a:pPr>
              <a:defRPr sz="1800"/>
            </a:pPr>
            <a:r>
              <a:t>Impacto de AlphaFold:</a:t>
            </a:r>
          </a:p>
          <a:p>
            <a:pPr lvl="1">
              <a:defRPr sz="1600"/>
            </a:pPr>
            <a:r>
              <a:t>Predice estructura de proteínas en minutos vs años</a:t>
            </a:r>
          </a:p>
          <a:p>
            <a:pPr lvl="1">
              <a:defRPr sz="1600"/>
            </a:pPr>
            <a:r>
              <a:t>2M+ investigadores en 190 países usando la base de datos</a:t>
            </a:r>
          </a:p>
          <a:p>
            <a:pPr lvl="1">
              <a:defRPr sz="1600"/>
            </a:pPr>
            <a:r>
              <a:t>Aceleración masiva en descubrimiento de fármacos</a:t>
            </a:r>
          </a:p>
          <a:p>
            <a:pPr>
              <a:defRPr sz="1800"/>
            </a:pPr>
            <a:r>
              <a:t>Significado histórico:</a:t>
            </a:r>
          </a:p>
          <a:p>
            <a:pPr lvl="1">
              <a:defRPr sz="1600"/>
            </a:pPr>
            <a:r>
              <a:t>Primera vez que IA gana Nobel por descubrimiento científico</a:t>
            </a:r>
          </a:p>
          <a:p>
            <a:pPr lvl="1">
              <a:defRPr sz="1600"/>
            </a:pPr>
            <a:r>
              <a:t>Validación de IA como herramienta científica fundamental</a:t>
            </a:r>
          </a:p>
          <a:p>
            <a:pPr>
              <a:defRPr sz="1800"/>
            </a:pPr>
            <a:r>
              <a:t>Precedente para futuras IA ganadoras de Nobel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Automatización del Descubrimiento Científico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Nobel Turing Challenge (Hiroaki Kitano, 2016):</a:t>
            </a:r>
          </a:p>
          <a:p>
            <a:pPr lvl="1">
              <a:defRPr sz="1600"/>
            </a:pPr>
            <a:r>
              <a:t>Meta: IA que haga descubrimiento digno de Nobel</a:t>
            </a:r>
          </a:p>
          <a:p>
            <a:pPr lvl="1">
              <a:defRPr sz="1600"/>
            </a:pPr>
            <a:r>
              <a:t>Proceso totalmente o altamente autónomo</a:t>
            </a:r>
          </a:p>
          <a:p>
            <a:pPr lvl="1">
              <a:defRPr sz="1600"/>
            </a:pPr>
            <a:r>
              <a:t>Desde pregunta hasta experimento y análisis</a:t>
            </a:r>
          </a:p>
          <a:p>
            <a:pPr>
              <a:defRPr sz="1800"/>
            </a:pPr>
            <a:r>
              <a:t>Predicción: IA ganará Nobel por descubrimiento propio para 2030</a:t>
            </a:r>
          </a:p>
          <a:p>
            <a:pPr>
              <a:defRPr sz="1800"/>
            </a:pPr>
            <a:r>
              <a:t>Capacidades actuales de IA en ciencia:</a:t>
            </a:r>
          </a:p>
          <a:p>
            <a:pPr lvl="1">
              <a:defRPr sz="1600"/>
            </a:pPr>
            <a:r>
              <a:t>Decodificación de comunicación animal</a:t>
            </a:r>
          </a:p>
          <a:p>
            <a:pPr lvl="1">
              <a:defRPr sz="1600"/>
            </a:pPr>
            <a:r>
              <a:t>Hipótesis sobre orígenes de vida en universo</a:t>
            </a:r>
          </a:p>
          <a:p>
            <a:pPr lvl="1">
              <a:defRPr sz="1600"/>
            </a:pPr>
            <a:r>
              <a:t>Predicción de colisiones estelares</a:t>
            </a:r>
          </a:p>
          <a:p>
            <a:pPr lvl="1">
              <a:defRPr sz="1600"/>
            </a:pPr>
            <a:r>
              <a:t>Optimización de computadoras cuánticas</a:t>
            </a:r>
          </a:p>
          <a:p>
            <a:pPr>
              <a:defRPr sz="1800"/>
            </a:pPr>
            <a:r>
              <a:t>Áreas prometedoras:</a:t>
            </a:r>
          </a:p>
          <a:p>
            <a:pPr lvl="1">
              <a:defRPr sz="1600"/>
            </a:pPr>
            <a:r>
              <a:t>Ciencia de materiales</a:t>
            </a:r>
          </a:p>
          <a:p>
            <a:pPr lvl="1">
              <a:defRPr sz="1600"/>
            </a:pPr>
            <a:r>
              <a:t>Tratamiento Parkinson/Alzheimer</a:t>
            </a:r>
          </a:p>
          <a:p>
            <a:pPr>
              <a:defRPr sz="1800"/>
            </a:pPr>
            <a:r>
              <a:t>Revolución: IA descubriendo conocimiento, no solo procesándolo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AlphaEvolve: Auto-Mejora de Algoritmos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DeepMind AlphaEvolve (Mayo 2025):</a:t>
            </a:r>
          </a:p>
          <a:p>
            <a:pPr>
              <a:defRPr sz="1800"/>
            </a:pPr>
            <a:r>
              <a:t>Agente evolutivo de coding que diseña y optimiza algoritmos</a:t>
            </a:r>
          </a:p>
          <a:p>
            <a:pPr>
              <a:defRPr sz="1800"/>
            </a:pPr>
            <a:r>
              <a:t>Proceso:</a:t>
            </a:r>
          </a:p>
          <a:p>
            <a:pPr lvl="1">
              <a:defRPr sz="1600"/>
            </a:pPr>
            <a:r>
              <a:t>1. Empieza con algoritmo inicial y métricas</a:t>
            </a:r>
          </a:p>
          <a:p>
            <a:pPr lvl="1">
              <a:defRPr sz="1600"/>
            </a:pPr>
            <a:r>
              <a:t>2. LLM genera mutaciones y combinaciones</a:t>
            </a:r>
          </a:p>
          <a:p>
            <a:pPr lvl="1">
              <a:defRPr sz="1600"/>
            </a:pPr>
            <a:r>
              <a:t>3. Evalúa candidatos automáticamente</a:t>
            </a:r>
          </a:p>
          <a:p>
            <a:pPr lvl="1">
              <a:defRPr sz="1600"/>
            </a:pPr>
            <a:r>
              <a:t>4. Selecciona mejores para siguiente iteración</a:t>
            </a:r>
          </a:p>
          <a:p>
            <a:pPr>
              <a:defRPr sz="1800"/>
            </a:pPr>
            <a:r>
              <a:t>Descubrimientos algorítmicos reales en múltiples dominios</a:t>
            </a:r>
          </a:p>
          <a:p>
            <a:pPr>
              <a:defRPr sz="1800"/>
            </a:pPr>
            <a:r>
              <a:t>Capacidad recursiva:</a:t>
            </a:r>
          </a:p>
          <a:p>
            <a:pPr lvl="1">
              <a:defRPr sz="1600"/>
            </a:pPr>
            <a:r>
              <a:t>Puede optimizar componentes de sí mismo</a:t>
            </a:r>
          </a:p>
          <a:p>
            <a:pPr lvl="1">
              <a:defRPr sz="1600"/>
            </a:pPr>
            <a:r>
              <a:t>Limitación: requiere funciones de evaluación automatizadas</a:t>
            </a:r>
          </a:p>
          <a:p>
            <a:pPr>
              <a:defRPr sz="1800"/>
            </a:pPr>
            <a:r>
              <a:t>Implicación: IA mejorando IA (bootstrap hacia superinteligencia)</a:t>
            </a:r>
          </a:p>
          <a:p>
            <a:pPr>
              <a:defRPr sz="1800"/>
            </a:pPr>
            <a:r>
              <a:t>Primer paso hacia optimización recursiva sin límites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Auto-Replicante: Darwin Gödel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Darwin Gödel Machine (Sakana AI, Mayo 2025):</a:t>
            </a:r>
          </a:p>
          <a:p>
            <a:pPr lvl="1">
              <a:defRPr sz="1600"/>
            </a:pPr>
            <a:r>
              <a:t>IA que reescribe su propio código para mejorar</a:t>
            </a:r>
          </a:p>
          <a:p>
            <a:pPr lvl="1">
              <a:defRPr sz="1600"/>
            </a:pPr>
            <a:r>
              <a:t>Incluye código responsable de aprendizaje</a:t>
            </a:r>
          </a:p>
          <a:p>
            <a:pPr>
              <a:defRPr sz="1800"/>
            </a:pPr>
            <a:r>
              <a:t>Mejoras auto-generadas:</a:t>
            </a:r>
          </a:p>
          <a:p>
            <a:pPr lvl="1">
              <a:defRPr sz="1600"/>
            </a:pPr>
            <a:r>
              <a:t>Validación de parches</a:t>
            </a:r>
          </a:p>
          <a:p>
            <a:pPr lvl="1">
              <a:defRPr sz="1600"/>
            </a:pPr>
            <a:r>
              <a:t>Herramientas de visualización mejoradas</a:t>
            </a:r>
          </a:p>
          <a:p>
            <a:pPr lvl="1">
              <a:defRPr sz="1600"/>
            </a:pPr>
            <a:r>
              <a:t>Generación y ranking de múltiples soluciones</a:t>
            </a:r>
          </a:p>
          <a:p>
            <a:pPr lvl="1">
              <a:defRPr sz="1600"/>
            </a:pPr>
            <a:r>
              <a:t>Historial de intentos fallidos (evita repetición)</a:t>
            </a:r>
          </a:p>
          <a:p>
            <a:pPr>
              <a:defRPr sz="1800"/>
            </a:pPr>
            <a:r>
              <a:t>Logros de auto-replicación 2025:</a:t>
            </a:r>
          </a:p>
          <a:p>
            <a:pPr lvl="1">
              <a:defRPr sz="1600"/>
            </a:pPr>
            <a:r>
              <a:t>Meta Llama 3.1 70B: 50% éxito en auto-replicación</a:t>
            </a:r>
          </a:p>
          <a:p>
            <a:pPr lvl="1">
              <a:defRPr sz="1600"/>
            </a:pPr>
            <a:r>
              <a:t>Alibaba Qwen 2.5 72B: 90% éxito</a:t>
            </a:r>
          </a:p>
          <a:p>
            <a:pPr>
              <a:defRPr sz="1800"/>
            </a:pPr>
            <a:r>
              <a:t>Preocupaciones de seguridad:</a:t>
            </a:r>
          </a:p>
          <a:p>
            <a:pPr lvl="1">
              <a:defRPr sz="1600"/>
            </a:pPr>
            <a:r>
              <a:t>Evolución en direcciones imprevistas</a:t>
            </a:r>
          </a:p>
          <a:p>
            <a:pPr lvl="1">
              <a:defRPr sz="1600"/>
            </a:pPr>
            <a:r>
              <a:t>Potencial de superar control humano</a:t>
            </a:r>
          </a:p>
          <a:p>
            <a:pPr>
              <a:defRPr sz="1800"/>
            </a:pPr>
            <a:r>
              <a:t>Umbral crucial cruzado: camino a auto-modificación sofisticada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Robótica Autónoma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Robots Humanoides 2025: Optimus, Figure,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Tesla Optimus:</a:t>
            </a:r>
          </a:p>
          <a:p>
            <a:pPr lvl="1">
              <a:defRPr sz="1600"/>
            </a:pPr>
            <a:r>
              <a:t>Producción limitada 2025: 1,000+ unidades en fábricas Tesla</a:t>
            </a:r>
          </a:p>
          <a:p>
            <a:pPr lvl="1">
              <a:defRPr sz="1600"/>
            </a:pPr>
            <a:r>
              <a:t>v3 esperado Q1 2026</a:t>
            </a:r>
          </a:p>
          <a:p>
            <a:pPr lvl="1">
              <a:defRPr sz="1600"/>
            </a:pPr>
            <a:r>
              <a:t>Precio proyectado: $20-30K (vs $100K+ competencia)</a:t>
            </a:r>
          </a:p>
          <a:p>
            <a:pPr lvl="1">
              <a:defRPr sz="1600"/>
            </a:pPr>
            <a:r>
              <a:t>Capacidades: manipulación objetos, tareas de manufactura</a:t>
            </a:r>
          </a:p>
          <a:p>
            <a:pPr>
              <a:defRPr sz="1800"/>
            </a:pPr>
            <a:r>
              <a:t>Figure AI Figure 02:</a:t>
            </a:r>
          </a:p>
          <a:p>
            <a:pPr lvl="1">
              <a:defRPr sz="1600"/>
            </a:pPr>
            <a:r>
              <a:t>Inversores: Nvidia, OpenAI, Microsoft, Amazon</a:t>
            </a:r>
          </a:p>
          <a:p>
            <a:pPr lvl="1">
              <a:defRPr sz="1600"/>
            </a:pPr>
            <a:r>
              <a:t>Integración con multimodal LLMs</a:t>
            </a:r>
          </a:p>
          <a:p>
            <a:pPr>
              <a:defRPr sz="1800"/>
            </a:pPr>
            <a:r>
              <a:t>Boston Dynamics Atlas (Hyundai):</a:t>
            </a:r>
          </a:p>
          <a:p>
            <a:pPr lvl="1">
              <a:defRPr sz="1600"/>
            </a:pPr>
            <a:r>
              <a:t>Líder en movilidad y agilidad</a:t>
            </a:r>
          </a:p>
          <a:p>
            <a:pPr lvl="1">
              <a:defRPr sz="1600"/>
            </a:pPr>
            <a:r>
              <a:t>Transición a aplicaciones comerciales</a:t>
            </a:r>
          </a:p>
          <a:p>
            <a:pPr>
              <a:defRPr sz="1800"/>
            </a:pPr>
            <a:r>
              <a:t>Limitación actual: Operan en entornos estructurados</a:t>
            </a:r>
          </a:p>
          <a:p>
            <a:pPr>
              <a:defRPr sz="1800"/>
            </a:pPr>
            <a:r>
              <a:t>Objetivo: Autonomía robusta en entornos no estructurados (hogares)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Modos Autónomos vs Teleoperados: Adaptabilidad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Espectro de control en robótica:</a:t>
            </a:r>
          </a:p>
          <a:p>
            <a:pPr>
              <a:defRPr sz="1800"/>
            </a:pPr>
            <a:r>
              <a:t>Teleoperación completa:</a:t>
            </a:r>
          </a:p>
          <a:p>
            <a:pPr lvl="1">
              <a:defRPr sz="1600"/>
            </a:pPr>
            <a:r>
              <a:t>Humano controla cada movimiento</a:t>
            </a:r>
          </a:p>
          <a:p>
            <a:pPr lvl="1">
              <a:defRPr sz="1600"/>
            </a:pPr>
            <a:r>
              <a:t>Alta precisión, requiere operador constante</a:t>
            </a:r>
          </a:p>
          <a:p>
            <a:pPr>
              <a:defRPr sz="1800"/>
            </a:pPr>
            <a:r>
              <a:t>Teleoperación supervisada:</a:t>
            </a:r>
          </a:p>
          <a:p>
            <a:pPr lvl="1">
              <a:defRPr sz="1600"/>
            </a:pPr>
            <a:r>
              <a:t>Robot ejecuta tareas, humano interviene cuando necesario</a:t>
            </a:r>
          </a:p>
          <a:p>
            <a:pPr lvl="1">
              <a:defRPr sz="1600"/>
            </a:pPr>
            <a:r>
              <a:t>Balance eficiencia-control</a:t>
            </a:r>
          </a:p>
          <a:p>
            <a:pPr>
              <a:defRPr sz="1800"/>
            </a:pPr>
            <a:r>
              <a:t>Autonomía guiada:</a:t>
            </a:r>
          </a:p>
          <a:p>
            <a:pPr lvl="1">
              <a:defRPr sz="1600"/>
            </a:pPr>
            <a:r>
              <a:t>Objetivos de alto nivel por humano</a:t>
            </a:r>
          </a:p>
          <a:p>
            <a:pPr lvl="1">
              <a:defRPr sz="1600"/>
            </a:pPr>
            <a:r>
              <a:t>Robot planifica y ejecuta detalles</a:t>
            </a:r>
          </a:p>
          <a:p>
            <a:pPr>
              <a:defRPr sz="1800"/>
            </a:pPr>
            <a:r>
              <a:t>Autonomía completa:</a:t>
            </a:r>
          </a:p>
          <a:p>
            <a:pPr lvl="1">
              <a:defRPr sz="1600"/>
            </a:pPr>
            <a:r>
              <a:t>Robot opera independientemente</a:t>
            </a:r>
          </a:p>
          <a:p>
            <a:pPr lvl="1">
              <a:defRPr sz="1600"/>
            </a:pPr>
            <a:r>
              <a:t>Humano solo recibe reportes</a:t>
            </a:r>
          </a:p>
          <a:p>
            <a:pPr>
              <a:defRPr sz="1800"/>
            </a:pPr>
            <a:r>
              <a:t>Tendencia: Transiciones dinámicas entre modos según contexto</a:t>
            </a:r>
          </a:p>
          <a:p>
            <a:pPr>
              <a:defRPr sz="1800"/>
            </a:pPr>
            <a:r>
              <a:t>Aplicación: cirugía, manufactura, exploración espacial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Adaptación y Control de Autonomía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Adaptando Autonomía de Sistemas Basados en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Parámetros ajustables de autonomía:</a:t>
            </a:r>
          </a:p>
          <a:p>
            <a:pPr>
              <a:defRPr sz="1800"/>
            </a:pPr>
            <a:r>
              <a:t>Temperatura y sampling:</a:t>
            </a:r>
          </a:p>
          <a:p>
            <a:pPr lvl="1">
              <a:defRPr sz="1600"/>
            </a:pPr>
            <a:r>
              <a:t>Alta temperatura: más creatividad/riesgo</a:t>
            </a:r>
          </a:p>
          <a:p>
            <a:pPr lvl="1">
              <a:defRPr sz="1600"/>
            </a:pPr>
            <a:r>
              <a:t>Baja temperatura: más determinístico/seguro</a:t>
            </a:r>
          </a:p>
          <a:p>
            <a:pPr>
              <a:defRPr sz="1800"/>
            </a:pPr>
            <a:r>
              <a:t>Umbrales de confianza:</a:t>
            </a:r>
          </a:p>
          <a:p>
            <a:pPr lvl="1">
              <a:defRPr sz="1600"/>
            </a:pPr>
            <a:r>
              <a:t>Auto-ejecuta si confianza &gt; umbral</a:t>
            </a:r>
          </a:p>
          <a:p>
            <a:pPr lvl="1">
              <a:defRPr sz="1600"/>
            </a:pPr>
            <a:r>
              <a:t>Pide confirmación si confianza &lt; umbral</a:t>
            </a:r>
          </a:p>
          <a:p>
            <a:pPr>
              <a:defRPr sz="1800"/>
            </a:pPr>
            <a:r>
              <a:t>Tool access permissions:</a:t>
            </a:r>
          </a:p>
          <a:p>
            <a:pPr lvl="1">
              <a:defRPr sz="1600"/>
            </a:pPr>
            <a:r>
              <a:t>Lista blanca de herramientas permitidas</a:t>
            </a:r>
          </a:p>
          <a:p>
            <a:pPr lvl="1">
              <a:defRPr sz="1600"/>
            </a:pPr>
            <a:r>
              <a:t>Operaciones críticas requieren aprobación</a:t>
            </a:r>
          </a:p>
          <a:p>
            <a:pPr>
              <a:defRPr sz="1800"/>
            </a:pPr>
            <a:r>
              <a:t>Budget limits:</a:t>
            </a:r>
          </a:p>
          <a:p>
            <a:pPr lvl="1">
              <a:defRPr sz="1600"/>
            </a:pPr>
            <a:r>
              <a:t>Tokens máximos por tarea</a:t>
            </a:r>
          </a:p>
          <a:p>
            <a:pPr lvl="1">
              <a:defRPr sz="1600"/>
            </a:pPr>
            <a:r>
              <a:t>Costo monetario máximo de API calls</a:t>
            </a:r>
          </a:p>
          <a:p>
            <a:pPr lvl="1">
              <a:defRPr sz="1600"/>
            </a:pPr>
            <a:r>
              <a:t>Tiempo máximo de ejecución</a:t>
            </a:r>
          </a:p>
          <a:p>
            <a:pPr>
              <a:defRPr sz="1800"/>
            </a:pPr>
            <a:r>
              <a:t>Configuración por contexto: desarrollo vs producción vs crítico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Estados y Modos de Operación Autónomos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Máquinas de estado para control de agentes:</a:t>
            </a:r>
          </a:p>
          <a:p>
            <a:pPr>
              <a:defRPr sz="1800"/>
            </a:pPr>
            <a:r>
              <a:t>Modo Observación:</a:t>
            </a:r>
          </a:p>
          <a:p>
            <a:pPr lvl="1">
              <a:defRPr sz="1600"/>
            </a:pPr>
            <a:r>
              <a:t>Solo monitorea, no actúa</a:t>
            </a:r>
          </a:p>
          <a:p>
            <a:pPr lvl="1">
              <a:defRPr sz="1600"/>
            </a:pPr>
            <a:r>
              <a:t>Aprendizaje de patrones</a:t>
            </a:r>
          </a:p>
          <a:p>
            <a:pPr>
              <a:defRPr sz="1800"/>
            </a:pPr>
            <a:r>
              <a:t>Modo Sugerencia:</a:t>
            </a:r>
          </a:p>
          <a:p>
            <a:pPr lvl="1">
              <a:defRPr sz="1600"/>
            </a:pPr>
            <a:r>
              <a:t>Propone acciones, espera aprobación</a:t>
            </a:r>
          </a:p>
          <a:p>
            <a:pPr lvl="1">
              <a:defRPr sz="1600"/>
            </a:pPr>
            <a:r>
              <a:t>Humano tiene control final</a:t>
            </a:r>
          </a:p>
          <a:p>
            <a:pPr>
              <a:defRPr sz="1800"/>
            </a:pPr>
            <a:r>
              <a:t>Modo Semi-Autónomo:</a:t>
            </a:r>
          </a:p>
          <a:p>
            <a:pPr lvl="1">
              <a:defRPr sz="1600"/>
            </a:pPr>
            <a:r>
              <a:t>Ejecuta tareas rutinarias</a:t>
            </a:r>
          </a:p>
          <a:p>
            <a:pPr lvl="1">
              <a:defRPr sz="1600"/>
            </a:pPr>
            <a:r>
              <a:t>Escala decisiones críticas</a:t>
            </a:r>
          </a:p>
          <a:p>
            <a:pPr>
              <a:defRPr sz="1800"/>
            </a:pPr>
            <a:r>
              <a:t>Modo Autónomo:</a:t>
            </a:r>
          </a:p>
          <a:p>
            <a:pPr lvl="1">
              <a:defRPr sz="1600"/>
            </a:pPr>
            <a:r>
              <a:t>Opera independientemente</a:t>
            </a:r>
          </a:p>
          <a:p>
            <a:pPr lvl="1">
              <a:defRPr sz="1600"/>
            </a:pPr>
            <a:r>
              <a:t>Reporta resultados periódicamente</a:t>
            </a:r>
          </a:p>
          <a:p>
            <a:pPr>
              <a:defRPr sz="1800"/>
            </a:pPr>
            <a:r>
              <a:t>Transiciones dinámicas:</a:t>
            </a:r>
          </a:p>
          <a:p>
            <a:pPr lvl="1">
              <a:defRPr sz="1600"/>
            </a:pPr>
            <a:r>
              <a:t>Detección de anomalías → escalamiento automático</a:t>
            </a:r>
          </a:p>
          <a:p>
            <a:pPr lvl="1">
              <a:defRPr sz="1600"/>
            </a:pPr>
            <a:r>
              <a:t>Aprendizaje progresivo: ganando autonomía con confianza probada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del Futuro de IA Autónoma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Futuro Cercano (2025-2027): Agentes Productivos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2025 - Presente:</a:t>
            </a:r>
          </a:p>
          <a:p>
            <a:pPr lvl="1">
              <a:defRPr sz="1600"/>
            </a:pPr>
            <a:r>
              <a:t>Adopción masiva de agentes en desarrollo de software</a:t>
            </a:r>
          </a:p>
          <a:p>
            <a:pPr lvl="1">
              <a:defRPr sz="1600"/>
            </a:pPr>
            <a:r>
              <a:t>25% empresas con pilotos de agentic AI</a:t>
            </a:r>
          </a:p>
          <a:p>
            <a:pPr lvl="1">
              <a:defRPr sz="1600"/>
            </a:pPr>
            <a:r>
              <a:t>Coding assistants como estándar en IDEs</a:t>
            </a:r>
          </a:p>
          <a:p>
            <a:pPr>
              <a:defRPr sz="1800"/>
            </a:pPr>
            <a:r>
              <a:t>2026:</a:t>
            </a:r>
          </a:p>
          <a:p>
            <a:pPr lvl="1">
              <a:defRPr sz="1600"/>
            </a:pPr>
            <a:r>
              <a:t>Sistemas que descubren insights novedosos</a:t>
            </a:r>
          </a:p>
          <a:p>
            <a:pPr lvl="1">
              <a:defRPr sz="1600"/>
            </a:pPr>
            <a:r>
              <a:t>Agentes de larga duración (días a semanas) en producción</a:t>
            </a:r>
          </a:p>
          <a:p>
            <a:pPr lvl="1">
              <a:defRPr sz="1600"/>
            </a:pPr>
            <a:r>
              <a:t>Early AGI-like systems emergen (según proyecciones)</a:t>
            </a:r>
          </a:p>
          <a:p>
            <a:pPr>
              <a:defRPr sz="1800"/>
            </a:pPr>
            <a:r>
              <a:t>2027:</a:t>
            </a:r>
          </a:p>
          <a:p>
            <a:pPr lvl="1">
              <a:defRPr sz="1600"/>
            </a:pPr>
            <a:r>
              <a:t>Robots autónomos en tareas del mundo real (manufactura, logística)</a:t>
            </a:r>
          </a:p>
          <a:p>
            <a:pPr lvl="1">
              <a:defRPr sz="1600"/>
            </a:pPr>
            <a:r>
              <a:t>50% de empresas usando agentic AI</a:t>
            </a:r>
          </a:p>
          <a:p>
            <a:pPr lvl="1">
              <a:defRPr sz="1600"/>
            </a:pPr>
            <a:r>
              <a:t>Primeros equipos 100% agentes en áreas específicas</a:t>
            </a:r>
          </a:p>
          <a:p>
            <a:pPr>
              <a:defRPr sz="1800"/>
            </a:pPr>
            <a:r>
              <a:t>Énfasis: Transición de pruebas de concepto a operaciones críticas</a:t>
            </a:r>
          </a:p>
          <a:p>
            <a:pPr>
              <a:defRPr sz="1800"/>
            </a:pPr>
            <a:r>
              <a:t>Estudiantes 2025: Están en el momento perfecto para dominar esto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Futuro Intermedio (2028-2030): AGI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Predicciones AGI (Artificial General Intelligence):</a:t>
            </a:r>
          </a:p>
          <a:p>
            <a:pPr>
              <a:defRPr sz="1800"/>
            </a:pPr>
            <a:r>
              <a:t>Líderes industria (optimistas):</a:t>
            </a:r>
          </a:p>
          <a:p>
            <a:pPr lvl="1">
              <a:defRPr sz="1600"/>
            </a:pPr>
            <a:r>
              <a:t>Sam Altman: AGI en 2026, superinteligencia 2030</a:t>
            </a:r>
          </a:p>
          <a:p>
            <a:pPr lvl="1">
              <a:defRPr sz="1600"/>
            </a:pPr>
            <a:r>
              <a:t>Dario Amodei: singularity 2026</a:t>
            </a:r>
          </a:p>
          <a:p>
            <a:pPr lvl="1">
              <a:defRPr sz="1600"/>
            </a:pPr>
            <a:r>
              <a:t>Eric Schmidt: AGI en 3-5 años (desde abril 2025)</a:t>
            </a:r>
          </a:p>
          <a:p>
            <a:pPr>
              <a:defRPr sz="1800"/>
            </a:pPr>
            <a:r>
              <a:t>Investigadores IA (conservadores):</a:t>
            </a:r>
          </a:p>
          <a:p>
            <a:pPr lvl="1">
              <a:defRPr sz="1600"/>
            </a:pPr>
            <a:r>
              <a:t>Mediana: 50% probabilidad AGI en 2047</a:t>
            </a:r>
          </a:p>
          <a:p>
            <a:pPr lvl="1">
              <a:defRPr sz="1600"/>
            </a:pPr>
            <a:r>
              <a:t>90% probabilidad antes de 2075</a:t>
            </a:r>
          </a:p>
          <a:p>
            <a:pPr>
              <a:defRPr sz="1800"/>
            </a:pPr>
            <a:r>
              <a:t>Compresión acelerada de timelines:</a:t>
            </a:r>
          </a:p>
          <a:p>
            <a:pPr lvl="1">
              <a:defRPr sz="1600"/>
            </a:pPr>
            <a:r>
              <a:t>Estimados cayeron de 50 años a 5 años en últimos 4 años</a:t>
            </a:r>
          </a:p>
          <a:p>
            <a:pPr>
              <a:defRPr sz="1800"/>
            </a:pPr>
            <a:r>
              <a:t>50% probabilidad varios hitos generales para 2028</a:t>
            </a:r>
          </a:p>
          <a:p>
            <a:pPr>
              <a:defRPr sz="1800"/>
            </a:pPr>
            <a:r>
              <a:t>Implicaciones 2028-2030:</a:t>
            </a:r>
          </a:p>
          <a:p>
            <a:pPr lvl="1">
              <a:defRPr sz="1600"/>
            </a:pPr>
            <a:r>
              <a:t>Sistemas que aprenden cualquier tarea intelectual humana</a:t>
            </a:r>
          </a:p>
          <a:p>
            <a:pPr lvl="1">
              <a:defRPr sz="1600"/>
            </a:pPr>
            <a:r>
              <a:t>Revolución en educación, medicina, investigación</a:t>
            </a:r>
          </a:p>
          <a:p>
            <a:pPr lvl="1">
              <a:defRPr sz="1600"/>
            </a:pPr>
            <a:r>
              <a:t>Desafíos masivos de alignment y seguridad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Futuro Lejano (2030+): Escenarios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Superinteligencia:</a:t>
            </a:r>
          </a:p>
          <a:p>
            <a:pPr lvl="1">
              <a:defRPr sz="1600"/>
            </a:pPr>
            <a:r>
              <a:t>IA superando capacidad humana en todos los dominios</a:t>
            </a:r>
          </a:p>
          <a:p>
            <a:pPr lvl="1">
              <a:defRPr sz="1600"/>
            </a:pPr>
            <a:r>
              <a:t>Timeframe post-AGI: 2-30 años según expertos</a:t>
            </a:r>
          </a:p>
          <a:p>
            <a:pPr>
              <a:defRPr sz="1800"/>
            </a:pPr>
            <a:r>
              <a:t>Escenarios transformacionales:</a:t>
            </a:r>
          </a:p>
          <a:p>
            <a:pPr>
              <a:defRPr sz="1800"/>
            </a:pPr>
            <a:r>
              <a:t>Optimista:</a:t>
            </a:r>
          </a:p>
          <a:p>
            <a:pPr lvl="1">
              <a:defRPr sz="1600"/>
            </a:pPr>
            <a:r>
              <a:t>Solución a cambio climático, enfermedades, pobreza</a:t>
            </a:r>
          </a:p>
          <a:p>
            <a:pPr lvl="1">
              <a:defRPr sz="1600"/>
            </a:pPr>
            <a:r>
              <a:t>Abundancia material y conocimiento ilimitado</a:t>
            </a:r>
          </a:p>
          <a:p>
            <a:pPr lvl="1">
              <a:defRPr sz="1600"/>
            </a:pPr>
            <a:r>
              <a:t>Colaboración humano-IA en nuevas fronteras</a:t>
            </a:r>
          </a:p>
          <a:p>
            <a:pPr>
              <a:defRPr sz="1800"/>
            </a:pPr>
            <a:r>
              <a:t>Cauteloso:</a:t>
            </a:r>
          </a:p>
          <a:p>
            <a:pPr lvl="1">
              <a:defRPr sz="1600"/>
            </a:pPr>
            <a:r>
              <a:t>Disrupciones masivas de mercados laborales</a:t>
            </a:r>
          </a:p>
          <a:p>
            <a:pPr lvl="1">
              <a:defRPr sz="1600"/>
            </a:pPr>
            <a:r>
              <a:t>Necesidad de frameworks de governance global</a:t>
            </a:r>
          </a:p>
          <a:p>
            <a:pPr lvl="1">
              <a:defRPr sz="1600"/>
            </a:pPr>
            <a:r>
              <a:t>Desafíos de desigualdad de acceso a IA avanzada</a:t>
            </a:r>
          </a:p>
          <a:p>
            <a:pPr>
              <a:defRPr sz="1800"/>
            </a:pPr>
            <a:r>
              <a:t>Incertidumbre fundamental: Ningún experto puede predecir con certeza</a:t>
            </a:r>
          </a:p>
          <a:p>
            <a:pPr>
              <a:defRPr sz="1800"/>
            </a:pPr>
            <a:r>
              <a:t>Responsabilidad: Generación actual diseñará estas tecnologías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Guía Práctica para Estudiantes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Actuales: Stack para Empezar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LLMs (empezar gratis/económico):</a:t>
            </a:r>
          </a:p>
          <a:p>
            <a:pPr lvl="1">
              <a:defRPr sz="1600"/>
            </a:pPr>
            <a:r>
              <a:t>OpenAI API (GPT-4o-mini), Anthropic (Claude)</a:t>
            </a:r>
          </a:p>
          <a:p>
            <a:pPr lvl="1">
              <a:defRPr sz="1600"/>
            </a:pPr>
            <a:r>
              <a:t>Open source local: Llama 3.3 8B, Qwen 2.5</a:t>
            </a:r>
          </a:p>
          <a:p>
            <a:pPr lvl="1">
              <a:defRPr sz="1600"/>
            </a:pPr>
            <a:r>
              <a:t>Plataformas: Ollama para local, OpenRouter para acceso múltiple</a:t>
            </a:r>
          </a:p>
          <a:p>
            <a:pPr>
              <a:defRPr sz="1800"/>
            </a:pPr>
            <a:r>
              <a:t>Frameworks de agentes:</a:t>
            </a:r>
          </a:p>
          <a:p>
            <a:pPr lvl="1">
              <a:defRPr sz="1600"/>
            </a:pPr>
            <a:r>
              <a:t>Beginner: CrewAI - documentación excelente, rápido</a:t>
            </a:r>
          </a:p>
          <a:p>
            <a:pPr lvl="1">
              <a:defRPr sz="1600"/>
            </a:pPr>
            <a:r>
              <a:t>Intermediate: LangChain/LangGraph - ecosystem completo</a:t>
            </a:r>
          </a:p>
          <a:p>
            <a:pPr lvl="1">
              <a:defRPr sz="1600"/>
            </a:pPr>
            <a:r>
              <a:t>Advanced: AutoGen - multi-agent conversations</a:t>
            </a:r>
          </a:p>
          <a:p>
            <a:pPr>
              <a:defRPr sz="1800"/>
            </a:pPr>
            <a:r>
              <a:t>Desarrollo:</a:t>
            </a:r>
          </a:p>
          <a:p>
            <a:pPr lvl="1">
              <a:defRPr sz="1600"/>
            </a:pPr>
            <a:r>
              <a:t>IDE: Cursor (student license), VS Code + Cline</a:t>
            </a:r>
          </a:p>
          <a:p>
            <a:pPr lvl="1">
              <a:defRPr sz="1600"/>
            </a:pPr>
            <a:r>
              <a:t>Deployment: Replit, Vercel, Railway</a:t>
            </a:r>
          </a:p>
          <a:p>
            <a:pPr>
              <a:defRPr sz="1800"/>
            </a:pPr>
            <a:r>
              <a:t>Automatización:</a:t>
            </a:r>
          </a:p>
          <a:p>
            <a:pPr lvl="1">
              <a:defRPr sz="1600"/>
            </a:pPr>
            <a:r>
              <a:t>n8n (self-hosted gratis) - workflows con IA</a:t>
            </a:r>
          </a:p>
          <a:p>
            <a:pPr>
              <a:defRPr sz="1800"/>
            </a:pPr>
            <a:r>
              <a:t>Aprendizaje: GitHub repos, tutoriales YouTube, comunidades Discord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 de Prototipado: Ideas y 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Proyectos iniciales (1-2 semanas):</a:t>
            </a:r>
          </a:p>
          <a:p>
            <a:pPr>
              <a:defRPr sz="1800"/>
            </a:pPr>
            <a:r>
              <a:t>Personal AI assistant básico:</a:t>
            </a:r>
          </a:p>
          <a:p>
            <a:pPr lvl="1">
              <a:defRPr sz="1600"/>
            </a:pPr>
            <a:r>
              <a:t>Gestión de tareas + integración calendario</a:t>
            </a:r>
          </a:p>
          <a:p>
            <a:pPr lvl="1">
              <a:defRPr sz="1600"/>
            </a:pPr>
            <a:r>
              <a:t>Stack: CrewAI + n8n + Google Calendar API</a:t>
            </a:r>
          </a:p>
          <a:p>
            <a:pPr>
              <a:defRPr sz="1800"/>
            </a:pPr>
            <a:r>
              <a:t>Research agent:</a:t>
            </a:r>
          </a:p>
          <a:p>
            <a:pPr lvl="1">
              <a:defRPr sz="1600"/>
            </a:pPr>
            <a:r>
              <a:t>Busca papers, resume findings, genera reporte</a:t>
            </a:r>
          </a:p>
          <a:p>
            <a:pPr lvl="1">
              <a:defRPr sz="1600"/>
            </a:pPr>
            <a:r>
              <a:t>Stack: LangChain + RAG + Arxiv API</a:t>
            </a:r>
          </a:p>
          <a:p>
            <a:pPr>
              <a:defRPr sz="1800"/>
            </a:pPr>
            <a:r>
              <a:t>Code reviewer autónomo:</a:t>
            </a:r>
          </a:p>
          <a:p>
            <a:pPr lvl="1">
              <a:defRPr sz="1600"/>
            </a:pPr>
            <a:r>
              <a:t>Analiza PRs, sugiere mejoras, detecta bugs</a:t>
            </a:r>
          </a:p>
          <a:p>
            <a:pPr lvl="1">
              <a:defRPr sz="1600"/>
            </a:pPr>
            <a:r>
              <a:t>Stack: AutoGen + GitHub API</a:t>
            </a:r>
          </a:p>
          <a:p>
            <a:pPr>
              <a:defRPr sz="1800"/>
            </a:pPr>
            <a:r>
              <a:t>Proyectos intermedios (1 mes):</a:t>
            </a:r>
          </a:p>
          <a:p>
            <a:pPr lvl="1">
              <a:defRPr sz="1600"/>
            </a:pPr>
            <a:r>
              <a:t>Multi-agent customer support system</a:t>
            </a:r>
          </a:p>
          <a:p>
            <a:pPr lvl="1">
              <a:defRPr sz="1600"/>
            </a:pPr>
            <a:r>
              <a:t>Autonomous data analysis pipeline</a:t>
            </a:r>
          </a:p>
          <a:p>
            <a:pPr lvl="1">
              <a:defRPr sz="1600"/>
            </a:pPr>
            <a:r>
              <a:t>Content creation team (research + write + edit)</a:t>
            </a:r>
          </a:p>
          <a:p>
            <a:pPr>
              <a:defRPr sz="1800"/>
            </a:pPr>
            <a:r>
              <a:t>Recursos: Build in public, documentar en GitHub, compartir aprendizajes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Real: De la Idea a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Ruta recomendada para estudiantes:</a:t>
            </a:r>
          </a:p>
          <a:p>
            <a:pPr>
              <a:defRPr sz="1800"/>
            </a:pPr>
            <a:r>
              <a:t>1. Prototipo local (días):</a:t>
            </a:r>
          </a:p>
          <a:p>
            <a:pPr lvl="1">
              <a:defRPr sz="1600"/>
            </a:pPr>
            <a:r>
              <a:t>Validar idea con Jupyter notebooks o scripts</a:t>
            </a:r>
          </a:p>
          <a:p>
            <a:pPr lvl="1">
              <a:defRPr sz="1600"/>
            </a:pPr>
            <a:r>
              <a:t>Iterar rápido sin preocuparse por infraestructura</a:t>
            </a:r>
          </a:p>
          <a:p>
            <a:pPr>
              <a:defRPr sz="1800"/>
            </a:pPr>
            <a:r>
              <a:t>2. MVP con usuarios (1-2 semanas):</a:t>
            </a:r>
          </a:p>
          <a:p>
            <a:pPr lvl="1">
              <a:defRPr sz="1600"/>
            </a:pPr>
            <a:r>
              <a:t>Deploy en Replit/Vercel para feedback real</a:t>
            </a:r>
          </a:p>
          <a:p>
            <a:pPr lvl="1">
              <a:defRPr sz="1600"/>
            </a:pPr>
            <a:r>
              <a:t>Implementar analytics básico</a:t>
            </a:r>
          </a:p>
          <a:p>
            <a:pPr>
              <a:defRPr sz="1800"/>
            </a:pPr>
            <a:r>
              <a:t>3. Escalamiento (1-2 meses):</a:t>
            </a:r>
          </a:p>
          <a:p>
            <a:pPr lvl="1">
              <a:defRPr sz="1600"/>
            </a:pPr>
            <a:r>
              <a:t>Migrar a infraestructura robusta si hay tracción</a:t>
            </a:r>
          </a:p>
          <a:p>
            <a:pPr lvl="1">
              <a:defRPr sz="1600"/>
            </a:pPr>
            <a:r>
              <a:t>Añadir monitoring, error handling, rate limiting</a:t>
            </a:r>
          </a:p>
          <a:p>
            <a:pPr>
              <a:defRPr sz="1800"/>
            </a:pPr>
            <a:r>
              <a:t>Consideraciones críticas:</a:t>
            </a:r>
          </a:p>
          <a:p>
            <a:pPr lvl="1">
              <a:defRPr sz="1600"/>
            </a:pPr>
            <a:r>
              <a:t>Costos: establecer budgets de API calls</a:t>
            </a:r>
          </a:p>
          <a:p>
            <a:pPr lvl="1">
              <a:defRPr sz="1600"/>
            </a:pPr>
            <a:r>
              <a:t>Seguridad: validar inputs, proteger secrets</a:t>
            </a:r>
          </a:p>
          <a:p>
            <a:pPr lvl="1">
              <a:defRPr sz="1600"/>
            </a:pPr>
            <a:r>
              <a:t>Ethics: uso responsable, transparencia con usuarios</a:t>
            </a:r>
          </a:p>
          <a:p>
            <a:pPr>
              <a:defRPr sz="1800"/>
            </a:pPr>
            <a:r>
              <a:t>¡Empiecen HOY! El mejor momento para construir con IA autónoma es AHORA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